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Canva Sans Bold" charset="1" panose="020B0803030501040103"/>
      <p:regular r:id="rId18"/>
    </p:embeddedFont>
    <p:embeddedFont>
      <p:font typeface="Open Sauce Bold" charset="1" panose="00000800000000000000"/>
      <p:regular r:id="rId19"/>
    </p:embeddedFont>
    <p:embeddedFont>
      <p:font typeface="Open Sauce" charset="1" panose="00000500000000000000"/>
      <p:regular r:id="rId20"/>
    </p:embeddedFont>
    <p:embeddedFont>
      <p:font typeface="Canva Sans" charset="1" panose="020B0503030501040103"/>
      <p:regular r:id="rId21"/>
    </p:embeddedFont>
    <p:embeddedFont>
      <p:font typeface="DM Serif Display" charset="1" panose="000000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embeddings/oleObject1.bin" Type="http://schemas.openxmlformats.org/officeDocument/2006/relationships/oleObjec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embeddings/oleObject2.bin" Type="http://schemas.openxmlformats.org/officeDocument/2006/relationships/oleObjec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7.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2803802" y="-276225"/>
            <a:ext cx="12016715" cy="2463165"/>
          </a:xfrm>
          <a:prstGeom prst="rect">
            <a:avLst/>
          </a:prstGeom>
        </p:spPr>
        <p:txBody>
          <a:bodyPr anchor="t" rtlCol="false" tIns="0" lIns="0" bIns="0" rIns="0">
            <a:spAutoFit/>
          </a:bodyPr>
          <a:lstStyle/>
          <a:p>
            <a:pPr algn="ctr">
              <a:lnSpc>
                <a:spcPts val="20160"/>
              </a:lnSpc>
            </a:pPr>
            <a:r>
              <a:rPr lang="en-US" sz="14400" b="true">
                <a:solidFill>
                  <a:srgbClr val="000000"/>
                </a:solidFill>
                <a:latin typeface="Canva Sans Bold"/>
                <a:ea typeface="Canva Sans Bold"/>
                <a:cs typeface="Canva Sans Bold"/>
                <a:sym typeface="Canva Sans Bold"/>
              </a:rPr>
              <a:t>NPS  LAB- EL</a:t>
            </a:r>
          </a:p>
        </p:txBody>
      </p:sp>
      <p:sp>
        <p:nvSpPr>
          <p:cNvPr name="TextBox 4" id="4"/>
          <p:cNvSpPr txBox="true"/>
          <p:nvPr/>
        </p:nvSpPr>
        <p:spPr>
          <a:xfrm rot="0">
            <a:off x="0" y="2413786"/>
            <a:ext cx="17814231" cy="2556660"/>
          </a:xfrm>
          <a:prstGeom prst="rect">
            <a:avLst/>
          </a:prstGeom>
        </p:spPr>
        <p:txBody>
          <a:bodyPr anchor="t" rtlCol="false" tIns="0" lIns="0" bIns="0" rIns="0">
            <a:spAutoFit/>
          </a:bodyPr>
          <a:lstStyle/>
          <a:p>
            <a:pPr algn="ctr">
              <a:lnSpc>
                <a:spcPts val="10281"/>
              </a:lnSpc>
              <a:spcBef>
                <a:spcPct val="0"/>
              </a:spcBef>
            </a:pPr>
            <a:r>
              <a:rPr lang="en-US" b="true" sz="7344">
                <a:solidFill>
                  <a:srgbClr val="000000"/>
                </a:solidFill>
                <a:latin typeface="Canva Sans Bold"/>
                <a:ea typeface="Canva Sans Bold"/>
                <a:cs typeface="Canva Sans Bold"/>
                <a:sym typeface="Canva Sans Bold"/>
              </a:rPr>
              <a:t>Distributed Multi Hop Communication System using Quantum Key Exchange</a:t>
            </a:r>
          </a:p>
        </p:txBody>
      </p:sp>
      <p:graphicFrame>
        <p:nvGraphicFramePr>
          <p:cNvPr name="Table 5" id="5"/>
          <p:cNvGraphicFramePr>
            <a:graphicFrameLocks noGrp="true"/>
          </p:cNvGraphicFramePr>
          <p:nvPr/>
        </p:nvGraphicFramePr>
        <p:xfrm>
          <a:off x="2986714" y="5547001"/>
          <a:ext cx="11650890" cy="4291533"/>
        </p:xfrm>
        <a:graphic>
          <a:graphicData uri="http://schemas.openxmlformats.org/drawingml/2006/table">
            <a:tbl>
              <a:tblPr/>
              <a:tblGrid>
                <a:gridCol w="3883630"/>
                <a:gridCol w="2909444"/>
                <a:gridCol w="4857816"/>
              </a:tblGrid>
              <a:tr h="1072883">
                <a:tc>
                  <a:txBody>
                    <a:bodyPr anchor="t" rtlCol="false"/>
                    <a:lstStyle/>
                    <a:p>
                      <a:pPr algn="ctr">
                        <a:lnSpc>
                          <a:spcPts val="3359"/>
                        </a:lnSpc>
                        <a:defRPr/>
                      </a:pPr>
                      <a:r>
                        <a:rPr lang="en-US" sz="2400" b="true">
                          <a:solidFill>
                            <a:srgbClr val="FFFFFF"/>
                          </a:solidFill>
                          <a:latin typeface="Open Sauce Bold"/>
                          <a:ea typeface="Open Sauce Bold"/>
                          <a:cs typeface="Open Sauce Bold"/>
                          <a:sym typeface="Open Sauce Bold"/>
                        </a:rPr>
                        <a:t>NAME</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191919"/>
                    </a:solidFill>
                  </a:tcPr>
                </a:tc>
                <a:tc>
                  <a:txBody>
                    <a:bodyPr anchor="t" rtlCol="false"/>
                    <a:lstStyle/>
                    <a:p>
                      <a:pPr algn="ctr">
                        <a:lnSpc>
                          <a:spcPts val="3359"/>
                        </a:lnSpc>
                        <a:defRPr/>
                      </a:pPr>
                      <a:r>
                        <a:rPr lang="en-US" sz="2400" b="true">
                          <a:solidFill>
                            <a:srgbClr val="FFFFFF"/>
                          </a:solidFill>
                          <a:latin typeface="Open Sauce Bold"/>
                          <a:ea typeface="Open Sauce Bold"/>
                          <a:cs typeface="Open Sauce Bold"/>
                          <a:sym typeface="Open Sauce Bold"/>
                        </a:rPr>
                        <a:t>USN</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191919"/>
                    </a:solidFill>
                  </a:tcPr>
                </a:tc>
                <a:tc>
                  <a:txBody>
                    <a:bodyPr anchor="t" rtlCol="false"/>
                    <a:lstStyle/>
                    <a:p>
                      <a:pPr algn="ctr">
                        <a:lnSpc>
                          <a:spcPts val="3359"/>
                        </a:lnSpc>
                        <a:defRPr/>
                      </a:pPr>
                      <a:r>
                        <a:rPr lang="en-US" sz="2400" b="true">
                          <a:solidFill>
                            <a:srgbClr val="FFFFFF"/>
                          </a:solidFill>
                          <a:latin typeface="Open Sauce Bold"/>
                          <a:ea typeface="Open Sauce Bold"/>
                          <a:cs typeface="Open Sauce Bold"/>
                          <a:sym typeface="Open Sauce Bold"/>
                        </a:rPr>
                        <a:t>E-Mail</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191919"/>
                    </a:solidFill>
                  </a:tcPr>
                </a:tc>
              </a:tr>
              <a:tr h="1072883">
                <a:tc>
                  <a:txBody>
                    <a:bodyPr anchor="t" rtlCol="false"/>
                    <a:lstStyle/>
                    <a:p>
                      <a:pPr algn="ctr">
                        <a:lnSpc>
                          <a:spcPts val="2940"/>
                        </a:lnSpc>
                        <a:defRPr/>
                      </a:pPr>
                      <a:r>
                        <a:rPr lang="en-US" sz="2100">
                          <a:solidFill>
                            <a:srgbClr val="000000"/>
                          </a:solidFill>
                          <a:latin typeface="Open Sauce"/>
                          <a:ea typeface="Open Sauce"/>
                          <a:cs typeface="Open Sauce"/>
                          <a:sym typeface="Open Sauce"/>
                        </a:rPr>
                        <a:t>M P Pretham</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940"/>
                        </a:lnSpc>
                        <a:defRPr/>
                      </a:pPr>
                      <a:r>
                        <a:rPr lang="en-US" sz="2100">
                          <a:solidFill>
                            <a:srgbClr val="000000"/>
                          </a:solidFill>
                          <a:latin typeface="Open Sauce"/>
                          <a:ea typeface="Open Sauce"/>
                          <a:cs typeface="Open Sauce"/>
                          <a:sym typeface="Open Sauce"/>
                        </a:rPr>
                        <a:t>1RV23CS122</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940"/>
                        </a:lnSpc>
                        <a:defRPr/>
                      </a:pPr>
                      <a:r>
                        <a:rPr lang="en-US" sz="2100">
                          <a:solidFill>
                            <a:srgbClr val="000000"/>
                          </a:solidFill>
                          <a:latin typeface="Open Sauce"/>
                          <a:ea typeface="Open Sauce"/>
                          <a:cs typeface="Open Sauce"/>
                          <a:sym typeface="Open Sauce"/>
                        </a:rPr>
                        <a:t>mppreetham.cs23@rvce.edu.in</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1072883">
                <a:tc>
                  <a:txBody>
                    <a:bodyPr anchor="t" rtlCol="false"/>
                    <a:lstStyle/>
                    <a:p>
                      <a:pPr algn="ctr">
                        <a:lnSpc>
                          <a:spcPts val="2940"/>
                        </a:lnSpc>
                        <a:defRPr/>
                      </a:pPr>
                      <a:r>
                        <a:rPr lang="en-US" sz="2100">
                          <a:solidFill>
                            <a:srgbClr val="000000"/>
                          </a:solidFill>
                          <a:latin typeface="Open Sauce"/>
                          <a:ea typeface="Open Sauce"/>
                          <a:cs typeface="Open Sauce"/>
                          <a:sym typeface="Open Sauce"/>
                        </a:rPr>
                        <a:t>M R Nithish</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940"/>
                        </a:lnSpc>
                        <a:defRPr/>
                      </a:pPr>
                      <a:r>
                        <a:rPr lang="en-US" sz="2100">
                          <a:solidFill>
                            <a:srgbClr val="000000"/>
                          </a:solidFill>
                          <a:latin typeface="Open Sauce"/>
                          <a:ea typeface="Open Sauce"/>
                          <a:cs typeface="Open Sauce"/>
                          <a:sym typeface="Open Sauce"/>
                        </a:rPr>
                        <a:t>1RV23CS123</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940"/>
                        </a:lnSpc>
                        <a:defRPr/>
                      </a:pPr>
                      <a:r>
                        <a:rPr lang="en-US" sz="2100">
                          <a:solidFill>
                            <a:srgbClr val="000000"/>
                          </a:solidFill>
                          <a:latin typeface="Open Sauce"/>
                          <a:ea typeface="Open Sauce"/>
                          <a:cs typeface="Open Sauce"/>
                          <a:sym typeface="Open Sauce"/>
                        </a:rPr>
                        <a:t>mrnithish.cs23@rvce.edu.in</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1072883">
                <a:tc>
                  <a:txBody>
                    <a:bodyPr anchor="t" rtlCol="false"/>
                    <a:lstStyle/>
                    <a:p>
                      <a:pPr algn="ctr">
                        <a:lnSpc>
                          <a:spcPts val="2940"/>
                        </a:lnSpc>
                        <a:defRPr/>
                      </a:pPr>
                      <a:r>
                        <a:rPr lang="en-US" sz="2100">
                          <a:solidFill>
                            <a:srgbClr val="000000"/>
                          </a:solidFill>
                          <a:latin typeface="Open Sauce"/>
                          <a:ea typeface="Open Sauce"/>
                          <a:cs typeface="Open Sauce"/>
                          <a:sym typeface="Open Sauce"/>
                        </a:rPr>
                        <a:t>Neeraj Gowda M</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940"/>
                        </a:lnSpc>
                        <a:defRPr/>
                      </a:pPr>
                      <a:r>
                        <a:rPr lang="en-US" sz="2100">
                          <a:solidFill>
                            <a:srgbClr val="000000"/>
                          </a:solidFill>
                          <a:latin typeface="Open Sauce"/>
                          <a:ea typeface="Open Sauce"/>
                          <a:cs typeface="Open Sauce"/>
                          <a:sym typeface="Open Sauce"/>
                        </a:rPr>
                        <a:t>1RV23CS150</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940"/>
                        </a:lnSpc>
                        <a:defRPr/>
                      </a:pPr>
                      <a:r>
                        <a:rPr lang="en-US" sz="2100">
                          <a:solidFill>
                            <a:srgbClr val="000000"/>
                          </a:solidFill>
                          <a:latin typeface="Open Sauce"/>
                          <a:ea typeface="Open Sauce"/>
                          <a:cs typeface="Open Sauce"/>
                          <a:sym typeface="Open Sauce"/>
                        </a:rPr>
                        <a:t>neerajgowdam.cs23@rvce.edu.in</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bl>
          </a:graphicData>
        </a:graphic>
      </p:graphicFrame>
      <p:sp>
        <p:nvSpPr>
          <p:cNvPr name="Freeform 6" id="6"/>
          <p:cNvSpPr/>
          <p:nvPr/>
        </p:nvSpPr>
        <p:spPr>
          <a:xfrm flipH="false" flipV="false" rot="0">
            <a:off x="0" y="0"/>
            <a:ext cx="2040692" cy="2013238"/>
          </a:xfrm>
          <a:custGeom>
            <a:avLst/>
            <a:gdLst/>
            <a:ahLst/>
            <a:cxnLst/>
            <a:rect r="r" b="b" t="t" l="l"/>
            <a:pathLst>
              <a:path h="2013238" w="2040692">
                <a:moveTo>
                  <a:pt x="0" y="0"/>
                </a:moveTo>
                <a:lnTo>
                  <a:pt x="2040692" y="0"/>
                </a:lnTo>
                <a:lnTo>
                  <a:pt x="2040692" y="2013238"/>
                </a:lnTo>
                <a:lnTo>
                  <a:pt x="0" y="2013238"/>
                </a:lnTo>
                <a:lnTo>
                  <a:pt x="0" y="0"/>
                </a:lnTo>
                <a:close/>
              </a:path>
            </a:pathLst>
          </a:custGeom>
          <a:blipFill>
            <a:blip r:embed="rId3"/>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391608" y="2946040"/>
            <a:ext cx="17058449" cy="6778626"/>
          </a:xfrm>
          <a:prstGeom prst="rect">
            <a:avLst/>
          </a:prstGeom>
        </p:spPr>
        <p:txBody>
          <a:bodyPr anchor="t" rtlCol="false" tIns="0" lIns="0" bIns="0" rIns="0">
            <a:spAutoFit/>
          </a:bodyPr>
          <a:lstStyle/>
          <a:p>
            <a:pPr algn="l" marL="755644" indent="-377822" lvl="1">
              <a:lnSpc>
                <a:spcPts val="4899"/>
              </a:lnSpc>
              <a:buFont typeface="Arial"/>
              <a:buChar char="•"/>
            </a:pPr>
            <a:r>
              <a:rPr lang="en-US" sz="3499">
                <a:solidFill>
                  <a:srgbClr val="000000"/>
                </a:solidFill>
                <a:latin typeface="Canva Sans"/>
                <a:ea typeface="Canva Sans"/>
                <a:cs typeface="Canva Sans"/>
                <a:sym typeface="Canva Sans"/>
              </a:rPr>
              <a:t>Communication networks are vulnerable to eavesdropping, which can compromise the confidentiality of transmitted data.</a:t>
            </a:r>
          </a:p>
          <a:p>
            <a:pPr algn="l">
              <a:lnSpc>
                <a:spcPts val="4899"/>
              </a:lnSpc>
            </a:pPr>
          </a:p>
          <a:p>
            <a:pPr algn="l" marL="755644" indent="-377822" lvl="1">
              <a:lnSpc>
                <a:spcPts val="4899"/>
              </a:lnSpc>
              <a:buFont typeface="Arial"/>
              <a:buChar char="•"/>
            </a:pPr>
            <a:r>
              <a:rPr lang="en-US" sz="3499">
                <a:solidFill>
                  <a:srgbClr val="000000"/>
                </a:solidFill>
                <a:latin typeface="Canva Sans"/>
                <a:ea typeface="Canva Sans"/>
                <a:cs typeface="Canva Sans"/>
                <a:sym typeface="Canva Sans"/>
              </a:rPr>
              <a:t>Attackers can perform Man in the Middle (MITM) and Replay attacks, leading to message tampering and unauthorized message retransmission.</a:t>
            </a:r>
          </a:p>
          <a:p>
            <a:pPr algn="l">
              <a:lnSpc>
                <a:spcPts val="4899"/>
              </a:lnSpc>
            </a:pPr>
          </a:p>
          <a:p>
            <a:pPr algn="l" marL="755644" indent="-377822" lvl="1">
              <a:lnSpc>
                <a:spcPts val="4899"/>
              </a:lnSpc>
              <a:buFont typeface="Arial"/>
              <a:buChar char="•"/>
            </a:pPr>
            <a:r>
              <a:rPr lang="en-US" sz="3499">
                <a:solidFill>
                  <a:srgbClr val="000000"/>
                </a:solidFill>
                <a:latin typeface="Canva Sans"/>
                <a:ea typeface="Canva Sans"/>
                <a:cs typeface="Canva Sans"/>
                <a:sym typeface="Canva Sans"/>
              </a:rPr>
              <a:t>Traditional security mechanisms do not effectively demonstrate attack detection during key exchange and multi hop communication.</a:t>
            </a:r>
          </a:p>
          <a:p>
            <a:pPr algn="l">
              <a:lnSpc>
                <a:spcPts val="4899"/>
              </a:lnSpc>
            </a:pPr>
          </a:p>
          <a:p>
            <a:pPr algn="l" marL="755644" indent="-377822" lvl="1">
              <a:lnSpc>
                <a:spcPts val="4899"/>
              </a:lnSpc>
              <a:buFont typeface="Arial"/>
              <a:buChar char="•"/>
            </a:pPr>
            <a:r>
              <a:rPr lang="en-US" sz="3499">
                <a:solidFill>
                  <a:srgbClr val="000000"/>
                </a:solidFill>
                <a:latin typeface="Canva Sans"/>
                <a:ea typeface="Canva Sans"/>
                <a:cs typeface="Canva Sans"/>
                <a:sym typeface="Canva Sans"/>
              </a:rPr>
              <a:t>There is a need for a secure multi hop messaging system that can establish secure keys, protect data integrity, and detect network attacks in real time.</a:t>
            </a:r>
          </a:p>
        </p:txBody>
      </p:sp>
      <p:sp>
        <p:nvSpPr>
          <p:cNvPr name="TextBox 4" id="4"/>
          <p:cNvSpPr txBox="true"/>
          <p:nvPr/>
        </p:nvSpPr>
        <p:spPr>
          <a:xfrm rot="0">
            <a:off x="238186" y="876300"/>
            <a:ext cx="9599295" cy="1367731"/>
          </a:xfrm>
          <a:prstGeom prst="rect">
            <a:avLst/>
          </a:prstGeom>
        </p:spPr>
        <p:txBody>
          <a:bodyPr anchor="t" rtlCol="false" tIns="0" lIns="0" bIns="0" rIns="0">
            <a:spAutoFit/>
          </a:bodyPr>
          <a:lstStyle/>
          <a:p>
            <a:pPr algn="ctr">
              <a:lnSpc>
                <a:spcPts val="11238"/>
              </a:lnSpc>
              <a:spcBef>
                <a:spcPct val="0"/>
              </a:spcBef>
            </a:pPr>
            <a:r>
              <a:rPr lang="en-US" b="true" sz="8027">
                <a:solidFill>
                  <a:srgbClr val="000000"/>
                </a:solidFill>
                <a:latin typeface="Canva Sans Bold"/>
                <a:ea typeface="Canva Sans Bold"/>
                <a:cs typeface="Canva Sans Bold"/>
                <a:sym typeface="Canva Sans Bold"/>
              </a:rPr>
              <a:t>Problem statement</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352577" y="793016"/>
            <a:ext cx="17663132" cy="9808209"/>
          </a:xfrm>
          <a:prstGeom prst="rect">
            <a:avLst/>
          </a:prstGeom>
        </p:spPr>
        <p:txBody>
          <a:bodyPr anchor="t" rtlCol="false" tIns="0" lIns="0" bIns="0" rIns="0">
            <a:spAutoFit/>
          </a:bodyPr>
          <a:lstStyle/>
          <a:p>
            <a:pPr algn="l">
              <a:lnSpc>
                <a:spcPts val="4340"/>
              </a:lnSpc>
              <a:spcBef>
                <a:spcPct val="0"/>
              </a:spcBef>
            </a:pPr>
          </a:p>
          <a:p>
            <a:pPr algn="l">
              <a:lnSpc>
                <a:spcPts val="4620"/>
              </a:lnSpc>
              <a:spcBef>
                <a:spcPct val="0"/>
              </a:spcBef>
            </a:pPr>
            <a:r>
              <a:rPr lang="en-US" sz="3300">
                <a:solidFill>
                  <a:srgbClr val="000000"/>
                </a:solidFill>
                <a:latin typeface="DM Serif Display"/>
                <a:ea typeface="DM Serif Display"/>
                <a:cs typeface="DM Serif Display"/>
                <a:sym typeface="DM Serif Display"/>
              </a:rPr>
              <a:t>Primary Objective</a:t>
            </a:r>
          </a:p>
          <a:p>
            <a:pPr algn="l">
              <a:lnSpc>
                <a:spcPts val="4340"/>
              </a:lnSpc>
              <a:spcBef>
                <a:spcPct val="0"/>
              </a:spcBef>
            </a:pPr>
            <a:r>
              <a:rPr lang="en-US" sz="3100">
                <a:solidFill>
                  <a:srgbClr val="000000"/>
                </a:solidFill>
                <a:latin typeface="Canva Sans"/>
                <a:ea typeface="Canva Sans"/>
                <a:cs typeface="Canva Sans"/>
                <a:sym typeface="Canva Sans"/>
              </a:rPr>
              <a:t>• To develop a secure messaging system that enables reliable communication across multiple network nodes while protecting data from unauthorized access and network attacks.</a:t>
            </a:r>
          </a:p>
          <a:p>
            <a:pPr algn="l">
              <a:lnSpc>
                <a:spcPts val="4340"/>
              </a:lnSpc>
              <a:spcBef>
                <a:spcPct val="0"/>
              </a:spcBef>
            </a:pPr>
          </a:p>
          <a:p>
            <a:pPr algn="l">
              <a:lnSpc>
                <a:spcPts val="4480"/>
              </a:lnSpc>
              <a:spcBef>
                <a:spcPct val="0"/>
              </a:spcBef>
            </a:pPr>
            <a:r>
              <a:rPr lang="en-US" sz="3200">
                <a:solidFill>
                  <a:srgbClr val="000000"/>
                </a:solidFill>
                <a:latin typeface="DM Serif Display"/>
                <a:ea typeface="DM Serif Display"/>
                <a:cs typeface="DM Serif Display"/>
                <a:sym typeface="DM Serif Display"/>
              </a:rPr>
              <a:t>Secondary Objectives</a:t>
            </a:r>
          </a:p>
          <a:p>
            <a:pPr algn="l">
              <a:lnSpc>
                <a:spcPts val="4340"/>
              </a:lnSpc>
              <a:spcBef>
                <a:spcPct val="0"/>
              </a:spcBef>
            </a:pPr>
            <a:r>
              <a:rPr lang="en-US" sz="3100">
                <a:solidFill>
                  <a:srgbClr val="000000"/>
                </a:solidFill>
                <a:latin typeface="Canva Sans"/>
                <a:ea typeface="Canva Sans"/>
                <a:cs typeface="Canva Sans"/>
                <a:sym typeface="Canva Sans"/>
              </a:rPr>
              <a:t>• To establish a secure key exchange mechanism between communicating nodes using Quantum Key Distribution principles.</a:t>
            </a:r>
          </a:p>
          <a:p>
            <a:pPr algn="l">
              <a:lnSpc>
                <a:spcPts val="4340"/>
              </a:lnSpc>
              <a:spcBef>
                <a:spcPct val="0"/>
              </a:spcBef>
            </a:pPr>
          </a:p>
          <a:p>
            <a:pPr algn="l">
              <a:lnSpc>
                <a:spcPts val="4340"/>
              </a:lnSpc>
              <a:spcBef>
                <a:spcPct val="0"/>
              </a:spcBef>
            </a:pPr>
            <a:r>
              <a:rPr lang="en-US" sz="3100">
                <a:solidFill>
                  <a:srgbClr val="000000"/>
                </a:solidFill>
                <a:latin typeface="Canva Sans"/>
                <a:ea typeface="Canva Sans"/>
                <a:cs typeface="Canva Sans"/>
                <a:sym typeface="Canva Sans"/>
              </a:rPr>
              <a:t>• To ensure confidentiality and integrity of transmitted messages through encryption and authentication techniques.</a:t>
            </a:r>
          </a:p>
          <a:p>
            <a:pPr algn="l">
              <a:lnSpc>
                <a:spcPts val="4340"/>
              </a:lnSpc>
              <a:spcBef>
                <a:spcPct val="0"/>
              </a:spcBef>
            </a:pPr>
          </a:p>
          <a:p>
            <a:pPr algn="l">
              <a:lnSpc>
                <a:spcPts val="4340"/>
              </a:lnSpc>
              <a:spcBef>
                <a:spcPct val="0"/>
              </a:spcBef>
            </a:pPr>
            <a:r>
              <a:rPr lang="en-US" sz="3100">
                <a:solidFill>
                  <a:srgbClr val="000000"/>
                </a:solidFill>
                <a:latin typeface="Canva Sans"/>
                <a:ea typeface="Canva Sans"/>
                <a:cs typeface="Canva Sans"/>
                <a:sym typeface="Canva Sans"/>
              </a:rPr>
              <a:t>• To detect and prevent network attacks such as eavesdropping, man in the middle, and replay attacks.</a:t>
            </a:r>
          </a:p>
          <a:p>
            <a:pPr algn="l">
              <a:lnSpc>
                <a:spcPts val="4340"/>
              </a:lnSpc>
              <a:spcBef>
                <a:spcPct val="0"/>
              </a:spcBef>
            </a:pPr>
          </a:p>
          <a:p>
            <a:pPr algn="l">
              <a:lnSpc>
                <a:spcPts val="4340"/>
              </a:lnSpc>
              <a:spcBef>
                <a:spcPct val="0"/>
              </a:spcBef>
            </a:pPr>
            <a:r>
              <a:rPr lang="en-US" sz="3100">
                <a:solidFill>
                  <a:srgbClr val="000000"/>
                </a:solidFill>
                <a:latin typeface="Canva Sans"/>
                <a:ea typeface="Canva Sans"/>
                <a:cs typeface="Canva Sans"/>
                <a:sym typeface="Canva Sans"/>
              </a:rPr>
              <a:t>• To enable secure multi hop communication and monitor network activities through an interactive dashboard.</a:t>
            </a:r>
          </a:p>
          <a:p>
            <a:pPr algn="l">
              <a:lnSpc>
                <a:spcPts val="4340"/>
              </a:lnSpc>
              <a:spcBef>
                <a:spcPct val="0"/>
              </a:spcBef>
            </a:pPr>
          </a:p>
        </p:txBody>
      </p:sp>
      <p:sp>
        <p:nvSpPr>
          <p:cNvPr name="TextBox 4" id="4"/>
          <p:cNvSpPr txBox="true"/>
          <p:nvPr/>
        </p:nvSpPr>
        <p:spPr>
          <a:xfrm rot="0">
            <a:off x="0" y="-225575"/>
            <a:ext cx="5517227" cy="1277770"/>
          </a:xfrm>
          <a:prstGeom prst="rect">
            <a:avLst/>
          </a:prstGeom>
        </p:spPr>
        <p:txBody>
          <a:bodyPr anchor="t" rtlCol="false" tIns="0" lIns="0" bIns="0" rIns="0">
            <a:spAutoFit/>
          </a:bodyPr>
          <a:lstStyle/>
          <a:p>
            <a:pPr algn="ctr">
              <a:lnSpc>
                <a:spcPts val="10421"/>
              </a:lnSpc>
              <a:spcBef>
                <a:spcPct val="0"/>
              </a:spcBef>
            </a:pPr>
            <a:r>
              <a:rPr lang="en-US" b="true" sz="7444">
                <a:solidFill>
                  <a:srgbClr val="000000"/>
                </a:solidFill>
                <a:latin typeface="Canva Sans Bold"/>
                <a:ea typeface="Canva Sans Bold"/>
                <a:cs typeface="Canva Sans Bold"/>
                <a:sym typeface="Canva Sans Bold"/>
              </a:rPr>
              <a:t>Objectives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aphicFrame>
        <p:nvGraphicFramePr>
          <p:cNvPr name="Object 3" id="3"/>
          <p:cNvGraphicFramePr/>
          <p:nvPr/>
        </p:nvGraphicFramePr>
        <p:xfrm>
          <a:off x="0" y="1798707"/>
          <a:ext cx="7543800" cy="5029200"/>
        </p:xfrm>
        <a:graphic>
          <a:graphicData uri="http://schemas.openxmlformats.org/presentationml/2006/ole">
            <p:oleObj imgW="9042400" imgH="65278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TextBox 4" id="4"/>
          <p:cNvSpPr txBox="true"/>
          <p:nvPr/>
        </p:nvSpPr>
        <p:spPr>
          <a:xfrm rot="0">
            <a:off x="154919" y="188463"/>
            <a:ext cx="7935635" cy="1251735"/>
          </a:xfrm>
          <a:prstGeom prst="rect">
            <a:avLst/>
          </a:prstGeom>
        </p:spPr>
        <p:txBody>
          <a:bodyPr anchor="t" rtlCol="false" tIns="0" lIns="0" bIns="0" rIns="0">
            <a:spAutoFit/>
          </a:bodyPr>
          <a:lstStyle/>
          <a:p>
            <a:pPr algn="ctr">
              <a:lnSpc>
                <a:spcPts val="10281"/>
              </a:lnSpc>
              <a:spcBef>
                <a:spcPct val="0"/>
              </a:spcBef>
            </a:pPr>
            <a:r>
              <a:rPr lang="en-US" b="true" sz="7344">
                <a:solidFill>
                  <a:srgbClr val="000000"/>
                </a:solidFill>
                <a:latin typeface="Canva Sans Bold"/>
                <a:ea typeface="Canva Sans Bold"/>
                <a:cs typeface="Canva Sans Bold"/>
                <a:sym typeface="Canva Sans Bold"/>
              </a:rPr>
              <a:t>Literature Survey</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aphicFrame>
        <p:nvGraphicFramePr>
          <p:cNvPr name="Object 3" id="3"/>
          <p:cNvGraphicFramePr/>
          <p:nvPr/>
        </p:nvGraphicFramePr>
        <p:xfrm>
          <a:off x="0" y="1780864"/>
          <a:ext cx="7543800" cy="5029200"/>
        </p:xfrm>
        <a:graphic>
          <a:graphicData uri="http://schemas.openxmlformats.org/presentationml/2006/ole">
            <p:oleObj imgW="9042400" imgH="65278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TextBox 4" id="4"/>
          <p:cNvSpPr txBox="true"/>
          <p:nvPr/>
        </p:nvSpPr>
        <p:spPr>
          <a:xfrm rot="0">
            <a:off x="154919" y="27556"/>
            <a:ext cx="7935635" cy="1251735"/>
          </a:xfrm>
          <a:prstGeom prst="rect">
            <a:avLst/>
          </a:prstGeom>
        </p:spPr>
        <p:txBody>
          <a:bodyPr anchor="t" rtlCol="false" tIns="0" lIns="0" bIns="0" rIns="0">
            <a:spAutoFit/>
          </a:bodyPr>
          <a:lstStyle/>
          <a:p>
            <a:pPr algn="ctr">
              <a:lnSpc>
                <a:spcPts val="10281"/>
              </a:lnSpc>
              <a:spcBef>
                <a:spcPct val="0"/>
              </a:spcBef>
            </a:pPr>
            <a:r>
              <a:rPr lang="en-US" b="true" sz="7344">
                <a:solidFill>
                  <a:srgbClr val="000000"/>
                </a:solidFill>
                <a:latin typeface="Canva Sans Bold"/>
                <a:ea typeface="Canva Sans Bold"/>
                <a:cs typeface="Canva Sans Bold"/>
                <a:sym typeface="Canva Sans Bold"/>
              </a:rPr>
              <a:t>Literature Survey</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56217" y="397849"/>
            <a:ext cx="18131783" cy="9630411"/>
          </a:xfrm>
          <a:prstGeom prst="rect">
            <a:avLst/>
          </a:prstGeom>
        </p:spPr>
        <p:txBody>
          <a:bodyPr anchor="t" rtlCol="false" tIns="0" lIns="0" bIns="0" rIns="0">
            <a:spAutoFit/>
          </a:bodyPr>
          <a:lstStyle/>
          <a:p>
            <a:pPr algn="l">
              <a:lnSpc>
                <a:spcPts val="7279"/>
              </a:lnSpc>
              <a:spcBef>
                <a:spcPct val="0"/>
              </a:spcBef>
            </a:pPr>
          </a:p>
          <a:p>
            <a:pPr algn="l">
              <a:lnSpc>
                <a:spcPts val="3779"/>
              </a:lnSpc>
              <a:spcBef>
                <a:spcPct val="0"/>
              </a:spcBef>
            </a:pPr>
          </a:p>
          <a:p>
            <a:pPr algn="l">
              <a:lnSpc>
                <a:spcPts val="4899"/>
              </a:lnSpc>
              <a:spcBef>
                <a:spcPct val="0"/>
              </a:spcBef>
            </a:pPr>
            <a:r>
              <a:rPr lang="en-US" b="true" sz="3499">
                <a:solidFill>
                  <a:srgbClr val="000000"/>
                </a:solidFill>
                <a:latin typeface="Canva Sans Bold"/>
                <a:ea typeface="Canva Sans Bold"/>
                <a:cs typeface="Canva Sans Bold"/>
                <a:sym typeface="Canva Sans Bold"/>
              </a:rPr>
              <a:t>Lack of Integrated Quantum Secure Communication Systems</a:t>
            </a:r>
          </a:p>
          <a:p>
            <a:pPr algn="l">
              <a:lnSpc>
                <a:spcPts val="4199"/>
              </a:lnSpc>
              <a:spcBef>
                <a:spcPct val="0"/>
              </a:spcBef>
            </a:pPr>
            <a:r>
              <a:rPr lang="en-US" sz="2999">
                <a:solidFill>
                  <a:srgbClr val="000000"/>
                </a:solidFill>
                <a:latin typeface="Canva Sans"/>
                <a:ea typeface="Canva Sans"/>
                <a:cs typeface="Canva Sans"/>
                <a:sym typeface="Canva Sans"/>
              </a:rPr>
              <a:t>• Existing solutions focus on either quantum key distribution, encryption, or secure routing individually rather than providing a unified security framework.</a:t>
            </a:r>
          </a:p>
          <a:p>
            <a:pPr algn="l">
              <a:lnSpc>
                <a:spcPts val="4199"/>
              </a:lnSpc>
              <a:spcBef>
                <a:spcPct val="0"/>
              </a:spcBef>
            </a:pPr>
          </a:p>
          <a:p>
            <a:pPr algn="l">
              <a:lnSpc>
                <a:spcPts val="4899"/>
              </a:lnSpc>
              <a:spcBef>
                <a:spcPct val="0"/>
              </a:spcBef>
            </a:pPr>
            <a:r>
              <a:rPr lang="en-US" b="true" sz="3499">
                <a:solidFill>
                  <a:srgbClr val="000000"/>
                </a:solidFill>
                <a:latin typeface="Canva Sans Bold"/>
                <a:ea typeface="Canva Sans Bold"/>
                <a:cs typeface="Canva Sans Bold"/>
                <a:sym typeface="Canva Sans Bold"/>
              </a:rPr>
              <a:t>Limited Protection Against Multiple Attack Types</a:t>
            </a:r>
          </a:p>
          <a:p>
            <a:pPr algn="l">
              <a:lnSpc>
                <a:spcPts val="4199"/>
              </a:lnSpc>
              <a:spcBef>
                <a:spcPct val="0"/>
              </a:spcBef>
            </a:pPr>
            <a:r>
              <a:rPr lang="en-US" sz="2999">
                <a:solidFill>
                  <a:srgbClr val="000000"/>
                </a:solidFill>
                <a:latin typeface="Canva Sans"/>
                <a:ea typeface="Canva Sans"/>
                <a:cs typeface="Canva Sans"/>
                <a:sym typeface="Canva Sans"/>
              </a:rPr>
              <a:t>• Most secure communication systems address specific threats but do not simultaneously detect and mitigate eavesdropping, man in the middle, and replay attacks.4</a:t>
            </a:r>
          </a:p>
          <a:p>
            <a:pPr algn="l">
              <a:lnSpc>
                <a:spcPts val="4199"/>
              </a:lnSpc>
              <a:spcBef>
                <a:spcPct val="0"/>
              </a:spcBef>
            </a:pPr>
          </a:p>
          <a:p>
            <a:pPr algn="l">
              <a:lnSpc>
                <a:spcPts val="4899"/>
              </a:lnSpc>
              <a:spcBef>
                <a:spcPct val="0"/>
              </a:spcBef>
            </a:pPr>
            <a:r>
              <a:rPr lang="en-US" b="true" sz="3499">
                <a:solidFill>
                  <a:srgbClr val="000000"/>
                </a:solidFill>
                <a:latin typeface="Canva Sans Bold"/>
                <a:ea typeface="Canva Sans Bold"/>
                <a:cs typeface="Canva Sans Bold"/>
                <a:sym typeface="Canva Sans Bold"/>
              </a:rPr>
              <a:t>Insufficient Multi Hop Security Mechanisms</a:t>
            </a:r>
          </a:p>
          <a:p>
            <a:pPr algn="l">
              <a:lnSpc>
                <a:spcPts val="4199"/>
              </a:lnSpc>
              <a:spcBef>
                <a:spcPct val="0"/>
              </a:spcBef>
            </a:pPr>
            <a:r>
              <a:rPr lang="en-US" sz="2999">
                <a:solidFill>
                  <a:srgbClr val="000000"/>
                </a:solidFill>
                <a:latin typeface="Canva Sans"/>
                <a:ea typeface="Canva Sans"/>
                <a:cs typeface="Canva Sans"/>
                <a:sym typeface="Canva Sans"/>
              </a:rPr>
              <a:t>• Many communication models secure end points but provide limited security monitoring and key management across intermediate routing nodes.</a:t>
            </a:r>
          </a:p>
          <a:p>
            <a:pPr algn="l">
              <a:lnSpc>
                <a:spcPts val="4199"/>
              </a:lnSpc>
              <a:spcBef>
                <a:spcPct val="0"/>
              </a:spcBef>
            </a:pPr>
          </a:p>
          <a:p>
            <a:pPr algn="l">
              <a:lnSpc>
                <a:spcPts val="4899"/>
              </a:lnSpc>
              <a:spcBef>
                <a:spcPct val="0"/>
              </a:spcBef>
            </a:pPr>
            <a:r>
              <a:rPr lang="en-US" b="true" sz="3499">
                <a:solidFill>
                  <a:srgbClr val="000000"/>
                </a:solidFill>
                <a:latin typeface="Canva Sans Bold"/>
                <a:ea typeface="Canva Sans Bold"/>
                <a:cs typeface="Canva Sans Bold"/>
                <a:sym typeface="Canva Sans Bold"/>
              </a:rPr>
              <a:t>Lack of Interactive Visualization and Testing Platforms</a:t>
            </a:r>
          </a:p>
          <a:p>
            <a:pPr algn="l">
              <a:lnSpc>
                <a:spcPts val="4199"/>
              </a:lnSpc>
              <a:spcBef>
                <a:spcPct val="0"/>
              </a:spcBef>
            </a:pPr>
            <a:r>
              <a:rPr lang="en-US" sz="2999">
                <a:solidFill>
                  <a:srgbClr val="000000"/>
                </a:solidFill>
                <a:latin typeface="Canva Sans"/>
                <a:ea typeface="Canva Sans"/>
                <a:cs typeface="Canva Sans"/>
                <a:sym typeface="Canva Sans"/>
              </a:rPr>
              <a:t>• Existing research is often theoretical and does not offer practical tools for visualizing key generation, packet routing, attack detection, and security events in real time.</a:t>
            </a:r>
          </a:p>
        </p:txBody>
      </p:sp>
      <p:sp>
        <p:nvSpPr>
          <p:cNvPr name="TextBox 4" id="4"/>
          <p:cNvSpPr txBox="true"/>
          <p:nvPr/>
        </p:nvSpPr>
        <p:spPr>
          <a:xfrm rot="0">
            <a:off x="1009252" y="188463"/>
            <a:ext cx="6226969" cy="1251735"/>
          </a:xfrm>
          <a:prstGeom prst="rect">
            <a:avLst/>
          </a:prstGeom>
        </p:spPr>
        <p:txBody>
          <a:bodyPr anchor="t" rtlCol="false" tIns="0" lIns="0" bIns="0" rIns="0">
            <a:spAutoFit/>
          </a:bodyPr>
          <a:lstStyle/>
          <a:p>
            <a:pPr algn="ctr">
              <a:lnSpc>
                <a:spcPts val="10281"/>
              </a:lnSpc>
              <a:spcBef>
                <a:spcPct val="0"/>
              </a:spcBef>
            </a:pPr>
            <a:r>
              <a:rPr lang="en-US" b="true" sz="7344">
                <a:solidFill>
                  <a:srgbClr val="000000"/>
                </a:solidFill>
                <a:latin typeface="Canva Sans Bold"/>
                <a:ea typeface="Canva Sans Bold"/>
                <a:cs typeface="Canva Sans Bold"/>
                <a:sym typeface="Canva Sans Bold"/>
              </a:rPr>
              <a:t>Research Gap</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219653" y="2090346"/>
            <a:ext cx="5426695" cy="2969882"/>
          </a:xfrm>
          <a:custGeom>
            <a:avLst/>
            <a:gdLst/>
            <a:ahLst/>
            <a:cxnLst/>
            <a:rect r="r" b="b" t="t" l="l"/>
            <a:pathLst>
              <a:path h="2969882" w="5426695">
                <a:moveTo>
                  <a:pt x="0" y="0"/>
                </a:moveTo>
                <a:lnTo>
                  <a:pt x="5426694" y="0"/>
                </a:lnTo>
                <a:lnTo>
                  <a:pt x="5426694" y="2969881"/>
                </a:lnTo>
                <a:lnTo>
                  <a:pt x="0" y="296988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6540479" y="2090346"/>
            <a:ext cx="5426695" cy="2969882"/>
          </a:xfrm>
          <a:custGeom>
            <a:avLst/>
            <a:gdLst/>
            <a:ahLst/>
            <a:cxnLst/>
            <a:rect r="r" b="b" t="t" l="l"/>
            <a:pathLst>
              <a:path h="2969882" w="5426695">
                <a:moveTo>
                  <a:pt x="0" y="0"/>
                </a:moveTo>
                <a:lnTo>
                  <a:pt x="5426695" y="0"/>
                </a:lnTo>
                <a:lnTo>
                  <a:pt x="5426695" y="2969881"/>
                </a:lnTo>
                <a:lnTo>
                  <a:pt x="0" y="296988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2861305" y="2090346"/>
            <a:ext cx="5426695" cy="2969882"/>
          </a:xfrm>
          <a:custGeom>
            <a:avLst/>
            <a:gdLst/>
            <a:ahLst/>
            <a:cxnLst/>
            <a:rect r="r" b="b" t="t" l="l"/>
            <a:pathLst>
              <a:path h="2969882" w="5426695">
                <a:moveTo>
                  <a:pt x="0" y="0"/>
                </a:moveTo>
                <a:lnTo>
                  <a:pt x="5426695" y="0"/>
                </a:lnTo>
                <a:lnTo>
                  <a:pt x="5426695" y="2969881"/>
                </a:lnTo>
                <a:lnTo>
                  <a:pt x="0" y="296988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219653" y="6288418"/>
            <a:ext cx="5426695" cy="2969882"/>
          </a:xfrm>
          <a:custGeom>
            <a:avLst/>
            <a:gdLst/>
            <a:ahLst/>
            <a:cxnLst/>
            <a:rect r="r" b="b" t="t" l="l"/>
            <a:pathLst>
              <a:path h="2969882" w="5426695">
                <a:moveTo>
                  <a:pt x="0" y="0"/>
                </a:moveTo>
                <a:lnTo>
                  <a:pt x="5426694" y="0"/>
                </a:lnTo>
                <a:lnTo>
                  <a:pt x="5426694" y="2969882"/>
                </a:lnTo>
                <a:lnTo>
                  <a:pt x="0" y="29698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6540479" y="6288418"/>
            <a:ext cx="5426695" cy="2969882"/>
          </a:xfrm>
          <a:custGeom>
            <a:avLst/>
            <a:gdLst/>
            <a:ahLst/>
            <a:cxnLst/>
            <a:rect r="r" b="b" t="t" l="l"/>
            <a:pathLst>
              <a:path h="2969882" w="5426695">
                <a:moveTo>
                  <a:pt x="0" y="0"/>
                </a:moveTo>
                <a:lnTo>
                  <a:pt x="5426695" y="0"/>
                </a:lnTo>
                <a:lnTo>
                  <a:pt x="5426695" y="2969882"/>
                </a:lnTo>
                <a:lnTo>
                  <a:pt x="0" y="29698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12861305" y="6288418"/>
            <a:ext cx="5426695" cy="2969882"/>
          </a:xfrm>
          <a:custGeom>
            <a:avLst/>
            <a:gdLst/>
            <a:ahLst/>
            <a:cxnLst/>
            <a:rect r="r" b="b" t="t" l="l"/>
            <a:pathLst>
              <a:path h="2969882" w="5426695">
                <a:moveTo>
                  <a:pt x="0" y="0"/>
                </a:moveTo>
                <a:lnTo>
                  <a:pt x="5426695" y="0"/>
                </a:lnTo>
                <a:lnTo>
                  <a:pt x="5426695" y="2969882"/>
                </a:lnTo>
                <a:lnTo>
                  <a:pt x="0" y="29698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9" id="9"/>
          <p:cNvGrpSpPr/>
          <p:nvPr/>
        </p:nvGrpSpPr>
        <p:grpSpPr>
          <a:xfrm rot="-10800000">
            <a:off x="5646347" y="3207115"/>
            <a:ext cx="894132" cy="736344"/>
            <a:chOff x="0" y="0"/>
            <a:chExt cx="647700" cy="533400"/>
          </a:xfrm>
        </p:grpSpPr>
        <p:sp>
          <p:nvSpPr>
            <p:cNvPr name="Freeform 10" id="10"/>
            <p:cNvSpPr/>
            <p:nvPr/>
          </p:nvSpPr>
          <p:spPr>
            <a:xfrm flipH="false" flipV="false" rot="0">
              <a:off x="0" y="0"/>
              <a:ext cx="647700" cy="533400"/>
            </a:xfrm>
            <a:custGeom>
              <a:avLst/>
              <a:gdLst/>
              <a:ahLst/>
              <a:cxnLst/>
              <a:rect r="r" b="b" t="t" l="l"/>
              <a:pathLst>
                <a:path h="533400" w="647700">
                  <a:moveTo>
                    <a:pt x="239386" y="166418"/>
                  </a:moveTo>
                  <a:lnTo>
                    <a:pt x="647700" y="166418"/>
                  </a:lnTo>
                  <a:lnTo>
                    <a:pt x="647700" y="366942"/>
                  </a:lnTo>
                  <a:lnTo>
                    <a:pt x="239373" y="366942"/>
                  </a:lnTo>
                  <a:lnTo>
                    <a:pt x="302255" y="533400"/>
                  </a:lnTo>
                  <a:lnTo>
                    <a:pt x="0" y="266700"/>
                  </a:lnTo>
                  <a:lnTo>
                    <a:pt x="302255" y="0"/>
                  </a:lnTo>
                  <a:lnTo>
                    <a:pt x="239386" y="166418"/>
                  </a:lnTo>
                  <a:close/>
                </a:path>
              </a:pathLst>
            </a:custGeom>
            <a:solidFill>
              <a:srgbClr val="4EA46A"/>
            </a:solidFill>
          </p:spPr>
        </p:sp>
        <p:sp>
          <p:nvSpPr>
            <p:cNvPr name="TextBox 11" id="11"/>
            <p:cNvSpPr txBox="true"/>
            <p:nvPr/>
          </p:nvSpPr>
          <p:spPr>
            <a:xfrm>
              <a:off x="120650" y="127000"/>
              <a:ext cx="527050" cy="241300"/>
            </a:xfrm>
            <a:prstGeom prst="rect">
              <a:avLst/>
            </a:prstGeom>
          </p:spPr>
          <p:txBody>
            <a:bodyPr anchor="ctr" rtlCol="false" tIns="50800" lIns="50800" bIns="50800" rIns="50800"/>
            <a:lstStyle/>
            <a:p>
              <a:pPr algn="ctr">
                <a:lnSpc>
                  <a:spcPts val="3437"/>
                </a:lnSpc>
              </a:pPr>
            </a:p>
          </p:txBody>
        </p:sp>
      </p:grpSp>
      <p:sp>
        <p:nvSpPr>
          <p:cNvPr name="TextBox 12" id="12"/>
          <p:cNvSpPr txBox="true"/>
          <p:nvPr/>
        </p:nvSpPr>
        <p:spPr>
          <a:xfrm rot="0">
            <a:off x="1080571" y="188463"/>
            <a:ext cx="6084332" cy="1251735"/>
          </a:xfrm>
          <a:prstGeom prst="rect">
            <a:avLst/>
          </a:prstGeom>
        </p:spPr>
        <p:txBody>
          <a:bodyPr anchor="t" rtlCol="false" tIns="0" lIns="0" bIns="0" rIns="0">
            <a:spAutoFit/>
          </a:bodyPr>
          <a:lstStyle/>
          <a:p>
            <a:pPr algn="ctr">
              <a:lnSpc>
                <a:spcPts val="10281"/>
              </a:lnSpc>
              <a:spcBef>
                <a:spcPct val="0"/>
              </a:spcBef>
            </a:pPr>
            <a:r>
              <a:rPr lang="en-US" b="true" sz="7344">
                <a:solidFill>
                  <a:srgbClr val="000000"/>
                </a:solidFill>
                <a:latin typeface="Canva Sans Bold"/>
                <a:ea typeface="Canva Sans Bold"/>
                <a:cs typeface="Canva Sans Bold"/>
                <a:sym typeface="Canva Sans Bold"/>
              </a:rPr>
              <a:t>Methodology</a:t>
            </a:r>
          </a:p>
        </p:txBody>
      </p:sp>
      <p:sp>
        <p:nvSpPr>
          <p:cNvPr name="TextBox 13" id="13"/>
          <p:cNvSpPr txBox="true"/>
          <p:nvPr/>
        </p:nvSpPr>
        <p:spPr>
          <a:xfrm rot="0">
            <a:off x="219653" y="2014146"/>
            <a:ext cx="5071358" cy="724677"/>
          </a:xfrm>
          <a:prstGeom prst="rect">
            <a:avLst/>
          </a:prstGeom>
        </p:spPr>
        <p:txBody>
          <a:bodyPr anchor="t" rtlCol="false" tIns="0" lIns="0" bIns="0" rIns="0">
            <a:spAutoFit/>
          </a:bodyPr>
          <a:lstStyle/>
          <a:p>
            <a:pPr algn="ctr">
              <a:lnSpc>
                <a:spcPts val="5961"/>
              </a:lnSpc>
              <a:spcBef>
                <a:spcPct val="0"/>
              </a:spcBef>
            </a:pPr>
            <a:r>
              <a:rPr lang="en-US" b="true" sz="4258">
                <a:solidFill>
                  <a:srgbClr val="000000"/>
                </a:solidFill>
                <a:latin typeface="Canva Sans Bold"/>
                <a:ea typeface="Canva Sans Bold"/>
                <a:cs typeface="Canva Sans Bold"/>
                <a:sym typeface="Canva Sans Bold"/>
              </a:rPr>
              <a:t>Message Creation</a:t>
            </a:r>
          </a:p>
        </p:txBody>
      </p:sp>
      <p:sp>
        <p:nvSpPr>
          <p:cNvPr name="TextBox 14" id="14"/>
          <p:cNvSpPr txBox="true"/>
          <p:nvPr/>
        </p:nvSpPr>
        <p:spPr>
          <a:xfrm rot="0">
            <a:off x="693963" y="3041922"/>
            <a:ext cx="4122737" cy="1690230"/>
          </a:xfrm>
          <a:prstGeom prst="rect">
            <a:avLst/>
          </a:prstGeom>
        </p:spPr>
        <p:txBody>
          <a:bodyPr anchor="t" rtlCol="false" tIns="0" lIns="0" bIns="0" rIns="0">
            <a:spAutoFit/>
          </a:bodyPr>
          <a:lstStyle/>
          <a:p>
            <a:pPr algn="l">
              <a:lnSpc>
                <a:spcPts val="3437"/>
              </a:lnSpc>
              <a:spcBef>
                <a:spcPct val="0"/>
              </a:spcBef>
            </a:pPr>
            <a:r>
              <a:rPr lang="en-US" sz="2455">
                <a:solidFill>
                  <a:srgbClr val="000000"/>
                </a:solidFill>
                <a:latin typeface="Canva Sans"/>
                <a:ea typeface="Canva Sans"/>
                <a:cs typeface="Canva Sans"/>
                <a:sym typeface="Canva Sans"/>
              </a:rPr>
              <a:t>User enters a message and selects the destination node through the dashboard.</a:t>
            </a:r>
          </a:p>
        </p:txBody>
      </p:sp>
      <p:sp>
        <p:nvSpPr>
          <p:cNvPr name="TextBox 15" id="15"/>
          <p:cNvSpPr txBox="true"/>
          <p:nvPr/>
        </p:nvSpPr>
        <p:spPr>
          <a:xfrm rot="0">
            <a:off x="6316446" y="2014146"/>
            <a:ext cx="5295391" cy="1481317"/>
          </a:xfrm>
          <a:prstGeom prst="rect">
            <a:avLst/>
          </a:prstGeom>
        </p:spPr>
        <p:txBody>
          <a:bodyPr anchor="t" rtlCol="false" tIns="0" lIns="0" bIns="0" rIns="0">
            <a:spAutoFit/>
          </a:bodyPr>
          <a:lstStyle/>
          <a:p>
            <a:pPr algn="ctr">
              <a:lnSpc>
                <a:spcPts val="5961"/>
              </a:lnSpc>
              <a:spcBef>
                <a:spcPct val="0"/>
              </a:spcBef>
            </a:pPr>
            <a:r>
              <a:rPr lang="en-US" b="true" sz="4258">
                <a:solidFill>
                  <a:srgbClr val="000000"/>
                </a:solidFill>
                <a:latin typeface="Canva Sans Bold"/>
                <a:ea typeface="Canva Sans Bold"/>
                <a:cs typeface="Canva Sans Bold"/>
                <a:sym typeface="Canva Sans Bold"/>
              </a:rPr>
              <a:t>BB84 Key G</a:t>
            </a:r>
            <a:r>
              <a:rPr lang="en-US" b="true" sz="4258">
                <a:solidFill>
                  <a:srgbClr val="000000"/>
                </a:solidFill>
                <a:latin typeface="Canva Sans Bold"/>
                <a:ea typeface="Canva Sans Bold"/>
                <a:cs typeface="Canva Sans Bold"/>
                <a:sym typeface="Canva Sans Bold"/>
              </a:rPr>
              <a:t>eneration</a:t>
            </a:r>
          </a:p>
        </p:txBody>
      </p:sp>
      <p:sp>
        <p:nvSpPr>
          <p:cNvPr name="TextBox 16" id="16"/>
          <p:cNvSpPr txBox="true"/>
          <p:nvPr/>
        </p:nvSpPr>
        <p:spPr>
          <a:xfrm rot="0">
            <a:off x="7164903" y="3527662"/>
            <a:ext cx="4446935" cy="1366445"/>
          </a:xfrm>
          <a:prstGeom prst="rect">
            <a:avLst/>
          </a:prstGeom>
        </p:spPr>
        <p:txBody>
          <a:bodyPr anchor="t" rtlCol="false" tIns="0" lIns="0" bIns="0" rIns="0">
            <a:spAutoFit/>
          </a:bodyPr>
          <a:lstStyle/>
          <a:p>
            <a:pPr algn="l">
              <a:lnSpc>
                <a:spcPts val="2744"/>
              </a:lnSpc>
              <a:spcBef>
                <a:spcPct val="0"/>
              </a:spcBef>
            </a:pPr>
            <a:r>
              <a:rPr lang="en-US" sz="1960">
                <a:solidFill>
                  <a:srgbClr val="000000"/>
                </a:solidFill>
                <a:latin typeface="Canva Sans"/>
                <a:ea typeface="Canva Sans"/>
                <a:cs typeface="Canva Sans"/>
                <a:sym typeface="Canva Sans"/>
              </a:rPr>
              <a:t>S</a:t>
            </a:r>
            <a:r>
              <a:rPr lang="en-US" sz="1960">
                <a:solidFill>
                  <a:srgbClr val="000000"/>
                </a:solidFill>
                <a:latin typeface="Canva Sans"/>
                <a:ea typeface="Canva Sans"/>
                <a:cs typeface="Canva Sans"/>
                <a:sym typeface="Canva Sans"/>
              </a:rPr>
              <a:t>ender and receiver simulate Quantum Key Distribution to establish a secure shared key and calculate QBER.</a:t>
            </a:r>
          </a:p>
        </p:txBody>
      </p:sp>
      <p:sp>
        <p:nvSpPr>
          <p:cNvPr name="TextBox 17" id="17"/>
          <p:cNvSpPr txBox="true"/>
          <p:nvPr/>
        </p:nvSpPr>
        <p:spPr>
          <a:xfrm rot="0">
            <a:off x="13038974" y="2014146"/>
            <a:ext cx="4597047" cy="1349900"/>
          </a:xfrm>
          <a:prstGeom prst="rect">
            <a:avLst/>
          </a:prstGeom>
        </p:spPr>
        <p:txBody>
          <a:bodyPr anchor="t" rtlCol="false" tIns="0" lIns="0" bIns="0" rIns="0">
            <a:spAutoFit/>
          </a:bodyPr>
          <a:lstStyle/>
          <a:p>
            <a:pPr algn="ctr">
              <a:lnSpc>
                <a:spcPts val="5404"/>
              </a:lnSpc>
              <a:spcBef>
                <a:spcPct val="0"/>
              </a:spcBef>
            </a:pPr>
            <a:r>
              <a:rPr lang="en-US" b="true" sz="3860">
                <a:solidFill>
                  <a:srgbClr val="000000"/>
                </a:solidFill>
                <a:latin typeface="Canva Sans Bold"/>
                <a:ea typeface="Canva Sans Bold"/>
                <a:cs typeface="Canva Sans Bold"/>
                <a:sym typeface="Canva Sans Bold"/>
              </a:rPr>
              <a:t>Encryption &amp;</a:t>
            </a:r>
            <a:r>
              <a:rPr lang="en-US" b="true" sz="3860">
                <a:solidFill>
                  <a:srgbClr val="000000"/>
                </a:solidFill>
                <a:latin typeface="Canva Sans Bold"/>
                <a:ea typeface="Canva Sans Bold"/>
                <a:cs typeface="Canva Sans Bold"/>
                <a:sym typeface="Canva Sans Bold"/>
              </a:rPr>
              <a:t> Authentication</a:t>
            </a:r>
          </a:p>
        </p:txBody>
      </p:sp>
      <p:sp>
        <p:nvSpPr>
          <p:cNvPr name="TextBox 18" id="18"/>
          <p:cNvSpPr txBox="true"/>
          <p:nvPr/>
        </p:nvSpPr>
        <p:spPr>
          <a:xfrm rot="0">
            <a:off x="13335616" y="3413603"/>
            <a:ext cx="4693594" cy="1540601"/>
          </a:xfrm>
          <a:prstGeom prst="rect">
            <a:avLst/>
          </a:prstGeom>
        </p:spPr>
        <p:txBody>
          <a:bodyPr anchor="t" rtlCol="false" tIns="0" lIns="0" bIns="0" rIns="0">
            <a:spAutoFit/>
          </a:bodyPr>
          <a:lstStyle/>
          <a:p>
            <a:pPr algn="l">
              <a:lnSpc>
                <a:spcPts val="3106"/>
              </a:lnSpc>
              <a:spcBef>
                <a:spcPct val="0"/>
              </a:spcBef>
            </a:pPr>
            <a:r>
              <a:rPr lang="en-US" sz="2218">
                <a:solidFill>
                  <a:srgbClr val="000000"/>
                </a:solidFill>
                <a:latin typeface="Canva Sans"/>
                <a:ea typeface="Canva Sans"/>
                <a:cs typeface="Canva Sans"/>
                <a:sym typeface="Canva Sans"/>
              </a:rPr>
              <a:t>The mes</a:t>
            </a:r>
            <a:r>
              <a:rPr lang="en-US" sz="2218">
                <a:solidFill>
                  <a:srgbClr val="000000"/>
                </a:solidFill>
                <a:latin typeface="Canva Sans"/>
                <a:ea typeface="Canva Sans"/>
                <a:cs typeface="Canva Sans"/>
                <a:sym typeface="Canva Sans"/>
              </a:rPr>
              <a:t>sage is encrypted using AES and protected with HMAC to ensure confidentiality and integrity.</a:t>
            </a:r>
          </a:p>
        </p:txBody>
      </p:sp>
      <p:sp>
        <p:nvSpPr>
          <p:cNvPr name="TextBox 19" id="19"/>
          <p:cNvSpPr txBox="true"/>
          <p:nvPr/>
        </p:nvSpPr>
        <p:spPr>
          <a:xfrm rot="0">
            <a:off x="456808" y="7697888"/>
            <a:ext cx="4597047" cy="1397264"/>
          </a:xfrm>
          <a:prstGeom prst="rect">
            <a:avLst/>
          </a:prstGeom>
        </p:spPr>
        <p:txBody>
          <a:bodyPr anchor="t" rtlCol="false" tIns="0" lIns="0" bIns="0" rIns="0">
            <a:spAutoFit/>
          </a:bodyPr>
          <a:lstStyle/>
          <a:p>
            <a:pPr algn="l">
              <a:lnSpc>
                <a:spcPts val="2785"/>
              </a:lnSpc>
              <a:spcBef>
                <a:spcPct val="0"/>
              </a:spcBef>
            </a:pPr>
            <a:r>
              <a:rPr lang="en-US" sz="1989">
                <a:solidFill>
                  <a:srgbClr val="000000"/>
                </a:solidFill>
                <a:latin typeface="Canva Sans"/>
                <a:ea typeface="Canva Sans"/>
                <a:cs typeface="Canva Sans"/>
                <a:sym typeface="Canva Sans"/>
              </a:rPr>
              <a:t>The receiv</a:t>
            </a:r>
            <a:r>
              <a:rPr lang="en-US" sz="1989">
                <a:solidFill>
                  <a:srgbClr val="000000"/>
                </a:solidFill>
                <a:latin typeface="Canva Sans"/>
                <a:ea typeface="Canva Sans"/>
                <a:cs typeface="Canva Sans"/>
                <a:sym typeface="Canva Sans"/>
              </a:rPr>
              <a:t>er decrypts the message and the dashboard displays routing details, attack status, and packet journey information.</a:t>
            </a:r>
          </a:p>
        </p:txBody>
      </p:sp>
      <p:sp>
        <p:nvSpPr>
          <p:cNvPr name="TextBox 20" id="20"/>
          <p:cNvSpPr txBox="true"/>
          <p:nvPr/>
        </p:nvSpPr>
        <p:spPr>
          <a:xfrm rot="0">
            <a:off x="6710991" y="7239995"/>
            <a:ext cx="5559982" cy="1479434"/>
          </a:xfrm>
          <a:prstGeom prst="rect">
            <a:avLst/>
          </a:prstGeom>
        </p:spPr>
        <p:txBody>
          <a:bodyPr anchor="t" rtlCol="false" tIns="0" lIns="0" bIns="0" rIns="0">
            <a:spAutoFit/>
          </a:bodyPr>
          <a:lstStyle/>
          <a:p>
            <a:pPr algn="l">
              <a:lnSpc>
                <a:spcPts val="2999"/>
              </a:lnSpc>
              <a:spcBef>
                <a:spcPct val="0"/>
              </a:spcBef>
            </a:pPr>
            <a:r>
              <a:rPr lang="en-US" sz="2142">
                <a:solidFill>
                  <a:srgbClr val="000000"/>
                </a:solidFill>
                <a:latin typeface="Canva Sans"/>
                <a:ea typeface="Canva Sans"/>
                <a:cs typeface="Canva Sans"/>
                <a:sym typeface="Canva Sans"/>
              </a:rPr>
              <a:t>The sy</a:t>
            </a:r>
            <a:r>
              <a:rPr lang="en-US" sz="2142">
                <a:solidFill>
                  <a:srgbClr val="000000"/>
                </a:solidFill>
                <a:latin typeface="Canva Sans"/>
                <a:ea typeface="Canva Sans"/>
                <a:cs typeface="Canva Sans"/>
                <a:sym typeface="Canva Sans"/>
              </a:rPr>
              <a:t>stem checks for Eavesdropping, Man in the Middle, and Replay attacks using QBER analysis, HMAC verification, and nonce validation.</a:t>
            </a:r>
          </a:p>
        </p:txBody>
      </p:sp>
      <p:sp>
        <p:nvSpPr>
          <p:cNvPr name="TextBox 21" id="21"/>
          <p:cNvSpPr txBox="true"/>
          <p:nvPr/>
        </p:nvSpPr>
        <p:spPr>
          <a:xfrm rot="0">
            <a:off x="13335616" y="7239995"/>
            <a:ext cx="4598266" cy="1690230"/>
          </a:xfrm>
          <a:prstGeom prst="rect">
            <a:avLst/>
          </a:prstGeom>
        </p:spPr>
        <p:txBody>
          <a:bodyPr anchor="t" rtlCol="false" tIns="0" lIns="0" bIns="0" rIns="0">
            <a:spAutoFit/>
          </a:bodyPr>
          <a:lstStyle/>
          <a:p>
            <a:pPr algn="l">
              <a:lnSpc>
                <a:spcPts val="3437"/>
              </a:lnSpc>
              <a:spcBef>
                <a:spcPct val="0"/>
              </a:spcBef>
            </a:pPr>
            <a:r>
              <a:rPr lang="en-US" sz="2455">
                <a:solidFill>
                  <a:srgbClr val="000000"/>
                </a:solidFill>
                <a:latin typeface="Canva Sans"/>
                <a:ea typeface="Canva Sans"/>
                <a:cs typeface="Canva Sans"/>
                <a:sym typeface="Canva Sans"/>
              </a:rPr>
              <a:t>Th</a:t>
            </a:r>
            <a:r>
              <a:rPr lang="en-US" sz="2455">
                <a:solidFill>
                  <a:srgbClr val="000000"/>
                </a:solidFill>
                <a:latin typeface="Canva Sans"/>
                <a:ea typeface="Canva Sans"/>
                <a:cs typeface="Canva Sans"/>
                <a:sym typeface="Canva Sans"/>
              </a:rPr>
              <a:t>e encrypted packet is forwarded through multiple network nodes with secure processing at each hop.</a:t>
            </a:r>
          </a:p>
        </p:txBody>
      </p:sp>
      <p:grpSp>
        <p:nvGrpSpPr>
          <p:cNvPr name="Group 22" id="22"/>
          <p:cNvGrpSpPr/>
          <p:nvPr/>
        </p:nvGrpSpPr>
        <p:grpSpPr>
          <a:xfrm rot="-10800000">
            <a:off x="11967174" y="3207115"/>
            <a:ext cx="894132" cy="736344"/>
            <a:chOff x="0" y="0"/>
            <a:chExt cx="647700" cy="533400"/>
          </a:xfrm>
        </p:grpSpPr>
        <p:sp>
          <p:nvSpPr>
            <p:cNvPr name="Freeform 23" id="23"/>
            <p:cNvSpPr/>
            <p:nvPr/>
          </p:nvSpPr>
          <p:spPr>
            <a:xfrm flipH="false" flipV="false" rot="0">
              <a:off x="0" y="0"/>
              <a:ext cx="647700" cy="533400"/>
            </a:xfrm>
            <a:custGeom>
              <a:avLst/>
              <a:gdLst/>
              <a:ahLst/>
              <a:cxnLst/>
              <a:rect r="r" b="b" t="t" l="l"/>
              <a:pathLst>
                <a:path h="533400" w="647700">
                  <a:moveTo>
                    <a:pt x="239386" y="166418"/>
                  </a:moveTo>
                  <a:lnTo>
                    <a:pt x="647700" y="166418"/>
                  </a:lnTo>
                  <a:lnTo>
                    <a:pt x="647700" y="366942"/>
                  </a:lnTo>
                  <a:lnTo>
                    <a:pt x="239373" y="366942"/>
                  </a:lnTo>
                  <a:lnTo>
                    <a:pt x="302255" y="533400"/>
                  </a:lnTo>
                  <a:lnTo>
                    <a:pt x="0" y="266700"/>
                  </a:lnTo>
                  <a:lnTo>
                    <a:pt x="302255" y="0"/>
                  </a:lnTo>
                  <a:lnTo>
                    <a:pt x="239386" y="166418"/>
                  </a:lnTo>
                  <a:close/>
                </a:path>
              </a:pathLst>
            </a:custGeom>
            <a:solidFill>
              <a:srgbClr val="4EA46A"/>
            </a:solidFill>
          </p:spPr>
        </p:sp>
        <p:sp>
          <p:nvSpPr>
            <p:cNvPr name="TextBox 24" id="24"/>
            <p:cNvSpPr txBox="true"/>
            <p:nvPr/>
          </p:nvSpPr>
          <p:spPr>
            <a:xfrm>
              <a:off x="120650" y="127000"/>
              <a:ext cx="527050" cy="241300"/>
            </a:xfrm>
            <a:prstGeom prst="rect">
              <a:avLst/>
            </a:prstGeom>
          </p:spPr>
          <p:txBody>
            <a:bodyPr anchor="ctr" rtlCol="false" tIns="50800" lIns="50800" bIns="50800" rIns="50800"/>
            <a:lstStyle/>
            <a:p>
              <a:pPr algn="ctr">
                <a:lnSpc>
                  <a:spcPts val="3437"/>
                </a:lnSpc>
              </a:pPr>
            </a:p>
          </p:txBody>
        </p:sp>
      </p:grpSp>
      <p:sp>
        <p:nvSpPr>
          <p:cNvPr name="TextBox 25" id="25"/>
          <p:cNvSpPr txBox="true"/>
          <p:nvPr/>
        </p:nvSpPr>
        <p:spPr>
          <a:xfrm rot="0">
            <a:off x="219653" y="6158137"/>
            <a:ext cx="5255245" cy="1481317"/>
          </a:xfrm>
          <a:prstGeom prst="rect">
            <a:avLst/>
          </a:prstGeom>
        </p:spPr>
        <p:txBody>
          <a:bodyPr anchor="t" rtlCol="false" tIns="0" lIns="0" bIns="0" rIns="0">
            <a:spAutoFit/>
          </a:bodyPr>
          <a:lstStyle/>
          <a:p>
            <a:pPr algn="ctr">
              <a:lnSpc>
                <a:spcPts val="5961"/>
              </a:lnSpc>
              <a:spcBef>
                <a:spcPct val="0"/>
              </a:spcBef>
            </a:pPr>
            <a:r>
              <a:rPr lang="en-US" b="true" sz="4258">
                <a:solidFill>
                  <a:srgbClr val="000000"/>
                </a:solidFill>
                <a:latin typeface="Canva Sans Bold"/>
                <a:ea typeface="Canva Sans Bold"/>
                <a:cs typeface="Canva Sans Bold"/>
                <a:sym typeface="Canva Sans Bold"/>
              </a:rPr>
              <a:t>S</a:t>
            </a:r>
            <a:r>
              <a:rPr lang="en-US" b="true" sz="4258">
                <a:solidFill>
                  <a:srgbClr val="000000"/>
                </a:solidFill>
                <a:latin typeface="Canva Sans Bold"/>
                <a:ea typeface="Canva Sans Bold"/>
                <a:cs typeface="Canva Sans Bold"/>
                <a:sym typeface="Canva Sans Bold"/>
              </a:rPr>
              <a:t>ecure Delivery &amp; Visualization</a:t>
            </a:r>
          </a:p>
        </p:txBody>
      </p:sp>
      <p:sp>
        <p:nvSpPr>
          <p:cNvPr name="TextBox 26" id="26"/>
          <p:cNvSpPr txBox="true"/>
          <p:nvPr/>
        </p:nvSpPr>
        <p:spPr>
          <a:xfrm rot="0">
            <a:off x="6540479" y="6229568"/>
            <a:ext cx="5071358" cy="724677"/>
          </a:xfrm>
          <a:prstGeom prst="rect">
            <a:avLst/>
          </a:prstGeom>
        </p:spPr>
        <p:txBody>
          <a:bodyPr anchor="t" rtlCol="false" tIns="0" lIns="0" bIns="0" rIns="0">
            <a:spAutoFit/>
          </a:bodyPr>
          <a:lstStyle/>
          <a:p>
            <a:pPr algn="ctr">
              <a:lnSpc>
                <a:spcPts val="5961"/>
              </a:lnSpc>
              <a:spcBef>
                <a:spcPct val="0"/>
              </a:spcBef>
            </a:pPr>
            <a:r>
              <a:rPr lang="en-US" b="true" sz="4258">
                <a:solidFill>
                  <a:srgbClr val="000000"/>
                </a:solidFill>
                <a:latin typeface="Canva Sans Bold"/>
                <a:ea typeface="Canva Sans Bold"/>
                <a:cs typeface="Canva Sans Bold"/>
                <a:sym typeface="Canva Sans Bold"/>
              </a:rPr>
              <a:t>Att</a:t>
            </a:r>
            <a:r>
              <a:rPr lang="en-US" b="true" sz="4258">
                <a:solidFill>
                  <a:srgbClr val="000000"/>
                </a:solidFill>
                <a:latin typeface="Canva Sans Bold"/>
                <a:ea typeface="Canva Sans Bold"/>
                <a:cs typeface="Canva Sans Bold"/>
                <a:sym typeface="Canva Sans Bold"/>
              </a:rPr>
              <a:t>ack Detection</a:t>
            </a:r>
          </a:p>
        </p:txBody>
      </p:sp>
      <p:sp>
        <p:nvSpPr>
          <p:cNvPr name="TextBox 27" id="27"/>
          <p:cNvSpPr txBox="true"/>
          <p:nvPr/>
        </p:nvSpPr>
        <p:spPr>
          <a:xfrm rot="0">
            <a:off x="12862524" y="6212218"/>
            <a:ext cx="5071358" cy="724677"/>
          </a:xfrm>
          <a:prstGeom prst="rect">
            <a:avLst/>
          </a:prstGeom>
        </p:spPr>
        <p:txBody>
          <a:bodyPr anchor="t" rtlCol="false" tIns="0" lIns="0" bIns="0" rIns="0">
            <a:spAutoFit/>
          </a:bodyPr>
          <a:lstStyle/>
          <a:p>
            <a:pPr algn="ctr">
              <a:lnSpc>
                <a:spcPts val="5961"/>
              </a:lnSpc>
              <a:spcBef>
                <a:spcPct val="0"/>
              </a:spcBef>
            </a:pPr>
            <a:r>
              <a:rPr lang="en-US" b="true" sz="4258">
                <a:solidFill>
                  <a:srgbClr val="000000"/>
                </a:solidFill>
                <a:latin typeface="Canva Sans Bold"/>
                <a:ea typeface="Canva Sans Bold"/>
                <a:cs typeface="Canva Sans Bold"/>
                <a:sym typeface="Canva Sans Bold"/>
              </a:rPr>
              <a:t>Multi Hop Routing</a:t>
            </a:r>
          </a:p>
        </p:txBody>
      </p:sp>
      <p:grpSp>
        <p:nvGrpSpPr>
          <p:cNvPr name="Group 28" id="28"/>
          <p:cNvGrpSpPr/>
          <p:nvPr/>
        </p:nvGrpSpPr>
        <p:grpSpPr>
          <a:xfrm rot="-5400000">
            <a:off x="14920881" y="5160536"/>
            <a:ext cx="1237032" cy="1018732"/>
            <a:chOff x="0" y="0"/>
            <a:chExt cx="647700" cy="533400"/>
          </a:xfrm>
        </p:grpSpPr>
        <p:sp>
          <p:nvSpPr>
            <p:cNvPr name="Freeform 29" id="29"/>
            <p:cNvSpPr/>
            <p:nvPr/>
          </p:nvSpPr>
          <p:spPr>
            <a:xfrm flipH="false" flipV="false" rot="0">
              <a:off x="0" y="0"/>
              <a:ext cx="647700" cy="533400"/>
            </a:xfrm>
            <a:custGeom>
              <a:avLst/>
              <a:gdLst/>
              <a:ahLst/>
              <a:cxnLst/>
              <a:rect r="r" b="b" t="t" l="l"/>
              <a:pathLst>
                <a:path h="533400" w="647700">
                  <a:moveTo>
                    <a:pt x="239386" y="166418"/>
                  </a:moveTo>
                  <a:lnTo>
                    <a:pt x="647700" y="166418"/>
                  </a:lnTo>
                  <a:lnTo>
                    <a:pt x="647700" y="366942"/>
                  </a:lnTo>
                  <a:lnTo>
                    <a:pt x="239373" y="366942"/>
                  </a:lnTo>
                  <a:lnTo>
                    <a:pt x="302255" y="533400"/>
                  </a:lnTo>
                  <a:lnTo>
                    <a:pt x="0" y="266700"/>
                  </a:lnTo>
                  <a:lnTo>
                    <a:pt x="302255" y="0"/>
                  </a:lnTo>
                  <a:lnTo>
                    <a:pt x="239386" y="166418"/>
                  </a:lnTo>
                  <a:close/>
                </a:path>
              </a:pathLst>
            </a:custGeom>
            <a:solidFill>
              <a:srgbClr val="4EA46A"/>
            </a:solidFill>
          </p:spPr>
        </p:sp>
        <p:sp>
          <p:nvSpPr>
            <p:cNvPr name="TextBox 30" id="30"/>
            <p:cNvSpPr txBox="true"/>
            <p:nvPr/>
          </p:nvSpPr>
          <p:spPr>
            <a:xfrm>
              <a:off x="120650" y="127000"/>
              <a:ext cx="527050" cy="241300"/>
            </a:xfrm>
            <a:prstGeom prst="rect">
              <a:avLst/>
            </a:prstGeom>
          </p:spPr>
          <p:txBody>
            <a:bodyPr anchor="ctr" rtlCol="false" tIns="50800" lIns="50800" bIns="50800" rIns="50800"/>
            <a:lstStyle/>
            <a:p>
              <a:pPr algn="ctr">
                <a:lnSpc>
                  <a:spcPts val="3437"/>
                </a:lnSpc>
              </a:pPr>
            </a:p>
          </p:txBody>
        </p:sp>
      </p:grpSp>
      <p:grpSp>
        <p:nvGrpSpPr>
          <p:cNvPr name="Group 31" id="31"/>
          <p:cNvGrpSpPr/>
          <p:nvPr/>
        </p:nvGrpSpPr>
        <p:grpSpPr>
          <a:xfrm rot="0">
            <a:off x="11967174" y="7278095"/>
            <a:ext cx="894132" cy="736344"/>
            <a:chOff x="0" y="0"/>
            <a:chExt cx="647700" cy="533400"/>
          </a:xfrm>
        </p:grpSpPr>
        <p:sp>
          <p:nvSpPr>
            <p:cNvPr name="Freeform 32" id="32"/>
            <p:cNvSpPr/>
            <p:nvPr/>
          </p:nvSpPr>
          <p:spPr>
            <a:xfrm flipH="false" flipV="false" rot="0">
              <a:off x="0" y="0"/>
              <a:ext cx="647700" cy="533400"/>
            </a:xfrm>
            <a:custGeom>
              <a:avLst/>
              <a:gdLst/>
              <a:ahLst/>
              <a:cxnLst/>
              <a:rect r="r" b="b" t="t" l="l"/>
              <a:pathLst>
                <a:path h="533400" w="647700">
                  <a:moveTo>
                    <a:pt x="239386" y="166418"/>
                  </a:moveTo>
                  <a:lnTo>
                    <a:pt x="647700" y="166418"/>
                  </a:lnTo>
                  <a:lnTo>
                    <a:pt x="647700" y="366942"/>
                  </a:lnTo>
                  <a:lnTo>
                    <a:pt x="239373" y="366942"/>
                  </a:lnTo>
                  <a:lnTo>
                    <a:pt x="302255" y="533400"/>
                  </a:lnTo>
                  <a:lnTo>
                    <a:pt x="0" y="266700"/>
                  </a:lnTo>
                  <a:lnTo>
                    <a:pt x="302255" y="0"/>
                  </a:lnTo>
                  <a:lnTo>
                    <a:pt x="239386" y="166418"/>
                  </a:lnTo>
                  <a:close/>
                </a:path>
              </a:pathLst>
            </a:custGeom>
            <a:solidFill>
              <a:srgbClr val="4EA46A"/>
            </a:solidFill>
          </p:spPr>
        </p:sp>
        <p:sp>
          <p:nvSpPr>
            <p:cNvPr name="TextBox 33" id="33"/>
            <p:cNvSpPr txBox="true"/>
            <p:nvPr/>
          </p:nvSpPr>
          <p:spPr>
            <a:xfrm>
              <a:off x="120650" y="127000"/>
              <a:ext cx="527050" cy="241300"/>
            </a:xfrm>
            <a:prstGeom prst="rect">
              <a:avLst/>
            </a:prstGeom>
          </p:spPr>
          <p:txBody>
            <a:bodyPr anchor="ctr" rtlCol="false" tIns="50800" lIns="50800" bIns="50800" rIns="50800"/>
            <a:lstStyle/>
            <a:p>
              <a:pPr algn="ctr">
                <a:lnSpc>
                  <a:spcPts val="3437"/>
                </a:lnSpc>
              </a:pPr>
            </a:p>
          </p:txBody>
        </p:sp>
      </p:grpSp>
      <p:grpSp>
        <p:nvGrpSpPr>
          <p:cNvPr name="Group 34" id="34"/>
          <p:cNvGrpSpPr/>
          <p:nvPr/>
        </p:nvGrpSpPr>
        <p:grpSpPr>
          <a:xfrm rot="0">
            <a:off x="5646347" y="7367816"/>
            <a:ext cx="894132" cy="736344"/>
            <a:chOff x="0" y="0"/>
            <a:chExt cx="647700" cy="533400"/>
          </a:xfrm>
        </p:grpSpPr>
        <p:sp>
          <p:nvSpPr>
            <p:cNvPr name="Freeform 35" id="35"/>
            <p:cNvSpPr/>
            <p:nvPr/>
          </p:nvSpPr>
          <p:spPr>
            <a:xfrm flipH="false" flipV="false" rot="0">
              <a:off x="0" y="0"/>
              <a:ext cx="647700" cy="533400"/>
            </a:xfrm>
            <a:custGeom>
              <a:avLst/>
              <a:gdLst/>
              <a:ahLst/>
              <a:cxnLst/>
              <a:rect r="r" b="b" t="t" l="l"/>
              <a:pathLst>
                <a:path h="533400" w="647700">
                  <a:moveTo>
                    <a:pt x="239386" y="166418"/>
                  </a:moveTo>
                  <a:lnTo>
                    <a:pt x="647700" y="166418"/>
                  </a:lnTo>
                  <a:lnTo>
                    <a:pt x="647700" y="366942"/>
                  </a:lnTo>
                  <a:lnTo>
                    <a:pt x="239373" y="366942"/>
                  </a:lnTo>
                  <a:lnTo>
                    <a:pt x="302255" y="533400"/>
                  </a:lnTo>
                  <a:lnTo>
                    <a:pt x="0" y="266700"/>
                  </a:lnTo>
                  <a:lnTo>
                    <a:pt x="302255" y="0"/>
                  </a:lnTo>
                  <a:lnTo>
                    <a:pt x="239386" y="166418"/>
                  </a:lnTo>
                  <a:close/>
                </a:path>
              </a:pathLst>
            </a:custGeom>
            <a:solidFill>
              <a:srgbClr val="4EA46A"/>
            </a:solidFill>
          </p:spPr>
        </p:sp>
        <p:sp>
          <p:nvSpPr>
            <p:cNvPr name="TextBox 36" id="36"/>
            <p:cNvSpPr txBox="true"/>
            <p:nvPr/>
          </p:nvSpPr>
          <p:spPr>
            <a:xfrm>
              <a:off x="120650" y="127000"/>
              <a:ext cx="527050" cy="241300"/>
            </a:xfrm>
            <a:prstGeom prst="rect">
              <a:avLst/>
            </a:prstGeom>
          </p:spPr>
          <p:txBody>
            <a:bodyPr anchor="ctr" rtlCol="false" tIns="50800" lIns="50800" bIns="50800" rIns="50800"/>
            <a:lstStyle/>
            <a:p>
              <a:pPr algn="ctr">
                <a:lnSpc>
                  <a:spcPts val="3437"/>
                </a:lnSpc>
              </a:pP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2829259" y="1692128"/>
            <a:ext cx="9936269" cy="8594872"/>
          </a:xfrm>
          <a:custGeom>
            <a:avLst/>
            <a:gdLst/>
            <a:ahLst/>
            <a:cxnLst/>
            <a:rect r="r" b="b" t="t" l="l"/>
            <a:pathLst>
              <a:path h="8594872" w="9936269">
                <a:moveTo>
                  <a:pt x="0" y="0"/>
                </a:moveTo>
                <a:lnTo>
                  <a:pt x="9936268" y="0"/>
                </a:lnTo>
                <a:lnTo>
                  <a:pt x="9936268" y="8594872"/>
                </a:lnTo>
                <a:lnTo>
                  <a:pt x="0" y="8594872"/>
                </a:lnTo>
                <a:lnTo>
                  <a:pt x="0" y="0"/>
                </a:lnTo>
                <a:close/>
              </a:path>
            </a:pathLst>
          </a:custGeom>
          <a:blipFill>
            <a:blip r:embed="rId3"/>
            <a:stretch>
              <a:fillRect l="0" t="0" r="0" b="0"/>
            </a:stretch>
          </a:blipFill>
        </p:spPr>
      </p:sp>
      <p:sp>
        <p:nvSpPr>
          <p:cNvPr name="TextBox 4" id="4"/>
          <p:cNvSpPr txBox="true"/>
          <p:nvPr/>
        </p:nvSpPr>
        <p:spPr>
          <a:xfrm rot="0">
            <a:off x="1028700" y="162216"/>
            <a:ext cx="12471257" cy="1251735"/>
          </a:xfrm>
          <a:prstGeom prst="rect">
            <a:avLst/>
          </a:prstGeom>
        </p:spPr>
        <p:txBody>
          <a:bodyPr anchor="t" rtlCol="false" tIns="0" lIns="0" bIns="0" rIns="0">
            <a:spAutoFit/>
          </a:bodyPr>
          <a:lstStyle/>
          <a:p>
            <a:pPr algn="ctr">
              <a:lnSpc>
                <a:spcPts val="10281"/>
              </a:lnSpc>
              <a:spcBef>
                <a:spcPct val="0"/>
              </a:spcBef>
            </a:pPr>
            <a:r>
              <a:rPr lang="en-US" b="true" sz="7344">
                <a:solidFill>
                  <a:srgbClr val="000000"/>
                </a:solidFill>
                <a:latin typeface="Canva Sans Bold"/>
                <a:ea typeface="Canva Sans Bold"/>
                <a:cs typeface="Canva Sans Bold"/>
                <a:sym typeface="Canva Sans Bold"/>
              </a:rPr>
              <a:t>Methodology Flowchart</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779740" y="336158"/>
            <a:ext cx="12471257" cy="1251735"/>
          </a:xfrm>
          <a:prstGeom prst="rect">
            <a:avLst/>
          </a:prstGeom>
        </p:spPr>
        <p:txBody>
          <a:bodyPr anchor="t" rtlCol="false" tIns="0" lIns="0" bIns="0" rIns="0">
            <a:spAutoFit/>
          </a:bodyPr>
          <a:lstStyle/>
          <a:p>
            <a:pPr algn="ctr">
              <a:lnSpc>
                <a:spcPts val="10281"/>
              </a:lnSpc>
              <a:spcBef>
                <a:spcPct val="0"/>
              </a:spcBef>
            </a:pPr>
            <a:r>
              <a:rPr lang="en-US" b="true" sz="7344">
                <a:solidFill>
                  <a:srgbClr val="000000"/>
                </a:solidFill>
                <a:latin typeface="Canva Sans Bold"/>
                <a:ea typeface="Canva Sans Bold"/>
                <a:cs typeface="Canva Sans Bold"/>
                <a:sym typeface="Canva Sans Bold"/>
              </a:rPr>
              <a:t>Technology Stack</a:t>
            </a:r>
          </a:p>
        </p:txBody>
      </p:sp>
      <p:sp>
        <p:nvSpPr>
          <p:cNvPr name="TextBox 4" id="4"/>
          <p:cNvSpPr txBox="true"/>
          <p:nvPr/>
        </p:nvSpPr>
        <p:spPr>
          <a:xfrm rot="0">
            <a:off x="852955" y="2011909"/>
            <a:ext cx="17435045" cy="6958745"/>
          </a:xfrm>
          <a:prstGeom prst="rect">
            <a:avLst/>
          </a:prstGeom>
        </p:spPr>
        <p:txBody>
          <a:bodyPr anchor="t" rtlCol="false" tIns="0" lIns="0" bIns="0" rIns="0">
            <a:spAutoFit/>
          </a:bodyPr>
          <a:lstStyle/>
          <a:p>
            <a:pPr algn="l">
              <a:lnSpc>
                <a:spcPts val="5014"/>
              </a:lnSpc>
              <a:spcBef>
                <a:spcPct val="0"/>
              </a:spcBef>
            </a:pPr>
            <a:r>
              <a:rPr lang="en-US" sz="3581">
                <a:solidFill>
                  <a:srgbClr val="000000"/>
                </a:solidFill>
                <a:latin typeface="Canva Sans"/>
                <a:ea typeface="Canva Sans"/>
                <a:cs typeface="Canva Sans"/>
                <a:sym typeface="Canva Sans"/>
              </a:rPr>
              <a:t>Programming: Python, JavaScript</a:t>
            </a:r>
          </a:p>
          <a:p>
            <a:pPr algn="l">
              <a:lnSpc>
                <a:spcPts val="5014"/>
              </a:lnSpc>
              <a:spcBef>
                <a:spcPct val="0"/>
              </a:spcBef>
            </a:pPr>
            <a:r>
              <a:rPr lang="en-US" sz="3581">
                <a:solidFill>
                  <a:srgbClr val="000000"/>
                </a:solidFill>
                <a:latin typeface="Canva Sans"/>
                <a:ea typeface="Canva Sans"/>
                <a:cs typeface="Canva Sans"/>
                <a:sym typeface="Canva Sans"/>
              </a:rPr>
              <a:t>• Backend: Flask REST API</a:t>
            </a:r>
          </a:p>
          <a:p>
            <a:pPr algn="l">
              <a:lnSpc>
                <a:spcPts val="5014"/>
              </a:lnSpc>
              <a:spcBef>
                <a:spcPct val="0"/>
              </a:spcBef>
            </a:pPr>
            <a:r>
              <a:rPr lang="en-US" sz="3581">
                <a:solidFill>
                  <a:srgbClr val="000000"/>
                </a:solidFill>
                <a:latin typeface="Canva Sans"/>
                <a:ea typeface="Canva Sans"/>
                <a:cs typeface="Canva Sans"/>
                <a:sym typeface="Canva Sans"/>
              </a:rPr>
              <a:t>• Frontend: React.js, HTML, CSS</a:t>
            </a:r>
          </a:p>
          <a:p>
            <a:pPr algn="l">
              <a:lnSpc>
                <a:spcPts val="5014"/>
              </a:lnSpc>
              <a:spcBef>
                <a:spcPct val="0"/>
              </a:spcBef>
            </a:pPr>
            <a:r>
              <a:rPr lang="en-US" sz="3581">
                <a:solidFill>
                  <a:srgbClr val="000000"/>
                </a:solidFill>
                <a:latin typeface="Canva Sans"/>
                <a:ea typeface="Canva Sans"/>
                <a:cs typeface="Canva Sans"/>
                <a:sym typeface="Canva Sans"/>
              </a:rPr>
              <a:t>• Networking: TCP/IP Socket Programming, Multi Hop Routing</a:t>
            </a:r>
          </a:p>
          <a:p>
            <a:pPr algn="l">
              <a:lnSpc>
                <a:spcPts val="5014"/>
              </a:lnSpc>
              <a:spcBef>
                <a:spcPct val="0"/>
              </a:spcBef>
            </a:pPr>
            <a:r>
              <a:rPr lang="en-US" sz="3581">
                <a:solidFill>
                  <a:srgbClr val="000000"/>
                </a:solidFill>
                <a:latin typeface="Canva Sans"/>
                <a:ea typeface="Canva Sans"/>
                <a:cs typeface="Canva Sans"/>
                <a:sym typeface="Canva Sans"/>
              </a:rPr>
              <a:t>• Quantum Security: BB84 Quantum Key Distribution Simulator</a:t>
            </a:r>
          </a:p>
          <a:p>
            <a:pPr algn="l">
              <a:lnSpc>
                <a:spcPts val="5014"/>
              </a:lnSpc>
              <a:spcBef>
                <a:spcPct val="0"/>
              </a:spcBef>
            </a:pPr>
            <a:r>
              <a:rPr lang="en-US" sz="3581">
                <a:solidFill>
                  <a:srgbClr val="000000"/>
                </a:solidFill>
                <a:latin typeface="Canva Sans"/>
                <a:ea typeface="Canva Sans"/>
                <a:cs typeface="Canva Sans"/>
                <a:sym typeface="Canva Sans"/>
              </a:rPr>
              <a:t>• Encryption: AES 256 CBC</a:t>
            </a:r>
          </a:p>
          <a:p>
            <a:pPr algn="l">
              <a:lnSpc>
                <a:spcPts val="5014"/>
              </a:lnSpc>
              <a:spcBef>
                <a:spcPct val="0"/>
              </a:spcBef>
            </a:pPr>
            <a:r>
              <a:rPr lang="en-US" sz="3581">
                <a:solidFill>
                  <a:srgbClr val="000000"/>
                </a:solidFill>
                <a:latin typeface="Canva Sans"/>
                <a:ea typeface="Canva Sans"/>
                <a:cs typeface="Canva Sans"/>
                <a:sym typeface="Canva Sans"/>
              </a:rPr>
              <a:t>• Integrity Verification: HMAC SHA256</a:t>
            </a:r>
          </a:p>
          <a:p>
            <a:pPr algn="l">
              <a:lnSpc>
                <a:spcPts val="5014"/>
              </a:lnSpc>
              <a:spcBef>
                <a:spcPct val="0"/>
              </a:spcBef>
            </a:pPr>
            <a:r>
              <a:rPr lang="en-US" sz="3581">
                <a:solidFill>
                  <a:srgbClr val="000000"/>
                </a:solidFill>
                <a:latin typeface="Canva Sans"/>
                <a:ea typeface="Canva Sans"/>
                <a:cs typeface="Canva Sans"/>
                <a:sym typeface="Canva Sans"/>
              </a:rPr>
              <a:t>• Data Exchange: JSON</a:t>
            </a:r>
          </a:p>
          <a:p>
            <a:pPr algn="l">
              <a:lnSpc>
                <a:spcPts val="5014"/>
              </a:lnSpc>
              <a:spcBef>
                <a:spcPct val="0"/>
              </a:spcBef>
            </a:pPr>
            <a:r>
              <a:rPr lang="en-US" sz="3581">
                <a:solidFill>
                  <a:srgbClr val="000000"/>
                </a:solidFill>
                <a:latin typeface="Canva Sans"/>
                <a:ea typeface="Canva Sans"/>
                <a:cs typeface="Canva Sans"/>
                <a:sym typeface="Canva Sans"/>
              </a:rPr>
              <a:t>• Attack Detection: QBER Analysis, Nonce Verification, HMAC Validation</a:t>
            </a:r>
          </a:p>
          <a:p>
            <a:pPr algn="l">
              <a:lnSpc>
                <a:spcPts val="5014"/>
              </a:lnSpc>
              <a:spcBef>
                <a:spcPct val="0"/>
              </a:spcBef>
            </a:pPr>
            <a:r>
              <a:rPr lang="en-US" sz="3581">
                <a:solidFill>
                  <a:srgbClr val="000000"/>
                </a:solidFill>
                <a:latin typeface="Canva Sans"/>
                <a:ea typeface="Canva Sans"/>
                <a:cs typeface="Canva Sans"/>
                <a:sym typeface="Canva Sans"/>
              </a:rPr>
              <a:t>• Deployment Environment: Local LAN Network</a:t>
            </a:r>
          </a:p>
          <a:p>
            <a:pPr algn="l">
              <a:lnSpc>
                <a:spcPts val="5014"/>
              </a:lnSpc>
              <a:spcBef>
                <a:spcPct val="0"/>
              </a:spcBef>
            </a:pPr>
            <a:r>
              <a:rPr lang="en-US" sz="3581">
                <a:solidFill>
                  <a:srgbClr val="000000"/>
                </a:solidFill>
                <a:latin typeface="Canva Sans"/>
                <a:ea typeface="Canva Sans"/>
                <a:cs typeface="Canva Sans"/>
                <a:sym typeface="Canva Sans"/>
              </a:rPr>
              <a:t>• Version Control: Git &amp; GitHub</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808597" y="-223035"/>
            <a:ext cx="12471257" cy="1251735"/>
          </a:xfrm>
          <a:prstGeom prst="rect">
            <a:avLst/>
          </a:prstGeom>
        </p:spPr>
        <p:txBody>
          <a:bodyPr anchor="t" rtlCol="false" tIns="0" lIns="0" bIns="0" rIns="0">
            <a:spAutoFit/>
          </a:bodyPr>
          <a:lstStyle/>
          <a:p>
            <a:pPr algn="ctr">
              <a:lnSpc>
                <a:spcPts val="10281"/>
              </a:lnSpc>
              <a:spcBef>
                <a:spcPct val="0"/>
              </a:spcBef>
            </a:pPr>
            <a:r>
              <a:rPr lang="en-US" b="true" sz="7344">
                <a:solidFill>
                  <a:srgbClr val="000000"/>
                </a:solidFill>
                <a:latin typeface="Canva Sans Bold"/>
                <a:ea typeface="Canva Sans Bold"/>
                <a:cs typeface="Canva Sans Bold"/>
                <a:sym typeface="Canva Sans Bold"/>
              </a:rPr>
              <a:t>Outcomes and Results</a:t>
            </a:r>
          </a:p>
        </p:txBody>
      </p:sp>
      <p:sp>
        <p:nvSpPr>
          <p:cNvPr name="TextBox 4" id="4"/>
          <p:cNvSpPr txBox="true"/>
          <p:nvPr/>
        </p:nvSpPr>
        <p:spPr>
          <a:xfrm rot="0">
            <a:off x="407709" y="981075"/>
            <a:ext cx="15957477" cy="6737319"/>
          </a:xfrm>
          <a:prstGeom prst="rect">
            <a:avLst/>
          </a:prstGeom>
        </p:spPr>
        <p:txBody>
          <a:bodyPr anchor="t" rtlCol="false" tIns="0" lIns="0" bIns="0" rIns="0">
            <a:spAutoFit/>
          </a:bodyPr>
          <a:lstStyle/>
          <a:p>
            <a:pPr algn="l">
              <a:lnSpc>
                <a:spcPts val="3564"/>
              </a:lnSpc>
              <a:spcBef>
                <a:spcPct val="0"/>
              </a:spcBef>
            </a:pPr>
            <a:r>
              <a:rPr lang="en-US" sz="2546">
                <a:solidFill>
                  <a:srgbClr val="000000"/>
                </a:solidFill>
                <a:latin typeface="Canva Sans"/>
                <a:ea typeface="Canva Sans"/>
                <a:cs typeface="Canva Sans"/>
                <a:sym typeface="Canva Sans"/>
              </a:rPr>
              <a:t>• </a:t>
            </a:r>
            <a:r>
              <a:rPr lang="en-US" sz="2546">
                <a:solidFill>
                  <a:srgbClr val="000000"/>
                </a:solidFill>
                <a:latin typeface="Canva Sans"/>
                <a:ea typeface="Canva Sans"/>
                <a:cs typeface="Canva Sans"/>
                <a:sym typeface="Canva Sans"/>
              </a:rPr>
              <a:t>To establish secure communication using BB84 Quantum Key Distribution (QKD)</a:t>
            </a:r>
          </a:p>
          <a:p>
            <a:pPr algn="l">
              <a:lnSpc>
                <a:spcPts val="3564"/>
              </a:lnSpc>
              <a:spcBef>
                <a:spcPct val="0"/>
              </a:spcBef>
            </a:pPr>
            <a:r>
              <a:rPr lang="en-US" sz="2546">
                <a:solidFill>
                  <a:srgbClr val="000000"/>
                </a:solidFill>
                <a:latin typeface="Canva Sans"/>
                <a:ea typeface="Canva Sans"/>
                <a:cs typeface="Canva Sans"/>
                <a:sym typeface="Canva Sans"/>
              </a:rPr>
              <a:t>• To securely exchange encryption keys while detecting eavesdropping attempts</a:t>
            </a:r>
          </a:p>
          <a:p>
            <a:pPr algn="l">
              <a:lnSpc>
                <a:spcPts val="3564"/>
              </a:lnSpc>
              <a:spcBef>
                <a:spcPct val="0"/>
              </a:spcBef>
            </a:pPr>
            <a:r>
              <a:rPr lang="en-US" sz="2546">
                <a:solidFill>
                  <a:srgbClr val="000000"/>
                </a:solidFill>
                <a:latin typeface="Canva Sans"/>
                <a:ea typeface="Canva Sans"/>
                <a:cs typeface="Canva Sans"/>
                <a:sym typeface="Canva Sans"/>
              </a:rPr>
              <a:t>• To implement AES 256 CBC encryption for confidential message transmission</a:t>
            </a:r>
          </a:p>
          <a:p>
            <a:pPr algn="l">
              <a:lnSpc>
                <a:spcPts val="3564"/>
              </a:lnSpc>
              <a:spcBef>
                <a:spcPct val="0"/>
              </a:spcBef>
            </a:pPr>
            <a:r>
              <a:rPr lang="en-US" sz="2546">
                <a:solidFill>
                  <a:srgbClr val="000000"/>
                </a:solidFill>
                <a:latin typeface="Canva Sans"/>
                <a:ea typeface="Canva Sans"/>
                <a:cs typeface="Canva Sans"/>
                <a:sym typeface="Canva Sans"/>
              </a:rPr>
              <a:t>• To ensure message integrity using HMAC SHA256 verification</a:t>
            </a:r>
          </a:p>
          <a:p>
            <a:pPr algn="l">
              <a:lnSpc>
                <a:spcPts val="3564"/>
              </a:lnSpc>
              <a:spcBef>
                <a:spcPct val="0"/>
              </a:spcBef>
            </a:pPr>
            <a:r>
              <a:rPr lang="en-US" sz="2546">
                <a:solidFill>
                  <a:srgbClr val="000000"/>
                </a:solidFill>
                <a:latin typeface="Canva Sans"/>
                <a:ea typeface="Canva Sans"/>
                <a:cs typeface="Canva Sans"/>
                <a:sym typeface="Canva Sans"/>
              </a:rPr>
              <a:t>• To enable secure multi hop message routing across intermediate nodes</a:t>
            </a:r>
          </a:p>
          <a:p>
            <a:pPr algn="l">
              <a:lnSpc>
                <a:spcPts val="3564"/>
              </a:lnSpc>
              <a:spcBef>
                <a:spcPct val="0"/>
              </a:spcBef>
            </a:pPr>
            <a:r>
              <a:rPr lang="en-US" sz="2546">
                <a:solidFill>
                  <a:srgbClr val="000000"/>
                </a:solidFill>
                <a:latin typeface="Canva Sans"/>
                <a:ea typeface="Canva Sans"/>
                <a:cs typeface="Canva Sans"/>
                <a:sym typeface="Canva Sans"/>
              </a:rPr>
              <a:t>• To support real time peer to peer communication over a local network</a:t>
            </a:r>
          </a:p>
          <a:p>
            <a:pPr algn="l">
              <a:lnSpc>
                <a:spcPts val="3564"/>
              </a:lnSpc>
              <a:spcBef>
                <a:spcPct val="0"/>
              </a:spcBef>
            </a:pPr>
            <a:r>
              <a:rPr lang="en-US" sz="2546">
                <a:solidFill>
                  <a:srgbClr val="000000"/>
                </a:solidFill>
                <a:latin typeface="Canva Sans"/>
                <a:ea typeface="Canva Sans"/>
                <a:cs typeface="Canva Sans"/>
                <a:sym typeface="Canva Sans"/>
              </a:rPr>
              <a:t>• To detect eavesdropping attacks using Quantum Bit Error Rate (QBER) analysis</a:t>
            </a:r>
          </a:p>
          <a:p>
            <a:pPr algn="l">
              <a:lnSpc>
                <a:spcPts val="3564"/>
              </a:lnSpc>
              <a:spcBef>
                <a:spcPct val="0"/>
              </a:spcBef>
            </a:pPr>
            <a:r>
              <a:rPr lang="en-US" sz="2546">
                <a:solidFill>
                  <a:srgbClr val="000000"/>
                </a:solidFill>
                <a:latin typeface="Canva Sans"/>
                <a:ea typeface="Canva Sans"/>
                <a:cs typeface="Canva Sans"/>
                <a:sym typeface="Canva Sans"/>
              </a:rPr>
              <a:t>• To detect Man in the Middle (MITM) attacks through HMAC validation</a:t>
            </a:r>
          </a:p>
          <a:p>
            <a:pPr algn="l">
              <a:lnSpc>
                <a:spcPts val="3564"/>
              </a:lnSpc>
              <a:spcBef>
                <a:spcPct val="0"/>
              </a:spcBef>
            </a:pPr>
            <a:r>
              <a:rPr lang="en-US" sz="2546">
                <a:solidFill>
                  <a:srgbClr val="000000"/>
                </a:solidFill>
                <a:latin typeface="Canva Sans"/>
                <a:ea typeface="Canva Sans"/>
                <a:cs typeface="Canva Sans"/>
                <a:sym typeface="Canva Sans"/>
              </a:rPr>
              <a:t>• To prevent replay attacks using unique nonce verification</a:t>
            </a:r>
          </a:p>
          <a:p>
            <a:pPr algn="l">
              <a:lnSpc>
                <a:spcPts val="3564"/>
              </a:lnSpc>
              <a:spcBef>
                <a:spcPct val="0"/>
              </a:spcBef>
            </a:pPr>
            <a:r>
              <a:rPr lang="en-US" sz="2546">
                <a:solidFill>
                  <a:srgbClr val="000000"/>
                </a:solidFill>
                <a:latin typeface="Canva Sans"/>
                <a:ea typeface="Canva Sans"/>
                <a:cs typeface="Canva Sans"/>
                <a:sym typeface="Canva Sans"/>
              </a:rPr>
              <a:t>• To automatically discover devices on the LAN using peer discovery protocols</a:t>
            </a:r>
          </a:p>
          <a:p>
            <a:pPr algn="l">
              <a:lnSpc>
                <a:spcPts val="3564"/>
              </a:lnSpc>
              <a:spcBef>
                <a:spcPct val="0"/>
              </a:spcBef>
            </a:pPr>
            <a:r>
              <a:rPr lang="en-US" sz="2546">
                <a:solidFill>
                  <a:srgbClr val="000000"/>
                </a:solidFill>
                <a:latin typeface="Canva Sans"/>
                <a:ea typeface="Canva Sans"/>
                <a:cs typeface="Canva Sans"/>
                <a:sym typeface="Canva Sans"/>
              </a:rPr>
              <a:t>• To provide a real time dashboard for monitoring packet flow and security events</a:t>
            </a:r>
          </a:p>
          <a:p>
            <a:pPr algn="l">
              <a:lnSpc>
                <a:spcPts val="3564"/>
              </a:lnSpc>
              <a:spcBef>
                <a:spcPct val="0"/>
              </a:spcBef>
            </a:pPr>
            <a:r>
              <a:rPr lang="en-US" sz="2546">
                <a:solidFill>
                  <a:srgbClr val="000000"/>
                </a:solidFill>
                <a:latin typeface="Canva Sans"/>
                <a:ea typeface="Canva Sans"/>
                <a:cs typeface="Canva Sans"/>
                <a:sym typeface="Canva Sans"/>
              </a:rPr>
              <a:t>• To visualize packet journeys, hop wise processing, and attack detection mechanisms</a:t>
            </a:r>
          </a:p>
          <a:p>
            <a:pPr algn="l">
              <a:lnSpc>
                <a:spcPts val="3564"/>
              </a:lnSpc>
              <a:spcBef>
                <a:spcPct val="0"/>
              </a:spcBef>
            </a:pPr>
            <a:r>
              <a:rPr lang="en-US" sz="2546">
                <a:solidFill>
                  <a:srgbClr val="000000"/>
                </a:solidFill>
                <a:latin typeface="Canva Sans"/>
                <a:ea typeface="Canva Sans"/>
                <a:cs typeface="Canva Sans"/>
                <a:sym typeface="Canva Sans"/>
              </a:rPr>
              <a:t>• To demonstrate the practical integration of quantum security concepts with classical cryptography</a:t>
            </a:r>
          </a:p>
          <a:p>
            <a:pPr algn="l">
              <a:lnSpc>
                <a:spcPts val="3564"/>
              </a:lnSpc>
              <a:spcBef>
                <a:spcPct val="0"/>
              </a:spcBef>
            </a:pPr>
            <a:r>
              <a:rPr lang="en-US" sz="2546">
                <a:solidFill>
                  <a:srgbClr val="000000"/>
                </a:solidFill>
                <a:latin typeface="Canva Sans"/>
                <a:ea typeface="Canva Sans"/>
                <a:cs typeface="Canva Sans"/>
                <a:sym typeface="Canva Sans"/>
              </a:rPr>
              <a:t>• To improve network security through layered protection using BB84, AES, HMAC, and routing controls</a:t>
            </a:r>
          </a:p>
          <a:p>
            <a:pPr algn="l">
              <a:lnSpc>
                <a:spcPts val="3564"/>
              </a:lnSpc>
              <a:spcBef>
                <a:spcPct val="0"/>
              </a:spcBef>
            </a:pPr>
          </a:p>
        </p:txBody>
      </p:sp>
      <p:sp>
        <p:nvSpPr>
          <p:cNvPr name="TextBox 5" id="5"/>
          <p:cNvSpPr txBox="true"/>
          <p:nvPr/>
        </p:nvSpPr>
        <p:spPr>
          <a:xfrm rot="0">
            <a:off x="216978" y="7496810"/>
            <a:ext cx="18483974" cy="2790190"/>
          </a:xfrm>
          <a:prstGeom prst="rect">
            <a:avLst/>
          </a:prstGeom>
        </p:spPr>
        <p:txBody>
          <a:bodyPr anchor="t" rtlCol="false" tIns="0" lIns="0" bIns="0" rIns="0">
            <a:spAutoFit/>
          </a:bodyPr>
          <a:lstStyle/>
          <a:p>
            <a:pPr algn="l">
              <a:lnSpc>
                <a:spcPts val="3709"/>
              </a:lnSpc>
              <a:spcBef>
                <a:spcPct val="0"/>
              </a:spcBef>
            </a:pPr>
            <a:r>
              <a:rPr lang="en-US" sz="2649">
                <a:solidFill>
                  <a:srgbClr val="000000"/>
                </a:solidFill>
                <a:latin typeface="Canva Sans"/>
                <a:ea typeface="Canva Sans"/>
                <a:cs typeface="Canva Sans"/>
                <a:sym typeface="Canva Sans"/>
              </a:rPr>
              <a:t>This project successfully demonstrates a Quantum Secure Multi Hop Messaging System that combines BB84 Quantum Key Distribution, AES 256 encryption, HMAC based integrity verification, and secure multi hop routing. The system effectively detects eavesdropping, Man in the Middle, and replay attacks while providing real time visualization and secure communication across networked devices. It showcases how quantum inspired security techniques can enhance modern communication systems and strengthen protection against emerging cyber threats. </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2236067" y="3702984"/>
            <a:ext cx="12471257" cy="1449861"/>
          </a:xfrm>
          <a:prstGeom prst="rect">
            <a:avLst/>
          </a:prstGeom>
        </p:spPr>
        <p:txBody>
          <a:bodyPr anchor="t" rtlCol="false" tIns="0" lIns="0" bIns="0" rIns="0">
            <a:spAutoFit/>
          </a:bodyPr>
          <a:lstStyle/>
          <a:p>
            <a:pPr algn="ctr">
              <a:lnSpc>
                <a:spcPts val="11961"/>
              </a:lnSpc>
              <a:spcBef>
                <a:spcPct val="0"/>
              </a:spcBef>
            </a:pPr>
            <a:r>
              <a:rPr lang="en-US" b="true" sz="8543">
                <a:solidFill>
                  <a:srgbClr val="000000"/>
                </a:solidFill>
                <a:latin typeface="Canva Sans Bold"/>
                <a:ea typeface="Canva Sans Bold"/>
                <a:cs typeface="Canva Sans Bold"/>
                <a:sym typeface="Canva Sans Bold"/>
              </a:rPr>
              <a:t>The End</a:t>
            </a:r>
          </a:p>
        </p:txBody>
      </p:sp>
    </p:spTree>
  </p:cSld>
  <p:clrMapOvr>
    <a:masterClrMapping/>
  </p:clrMapOvr>
</p:sld>
</file>

<file path=ppt/slides/slide1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DAHMRfNXr60</dc:identifier>
  <dcterms:modified xsi:type="dcterms:W3CDTF">2011-08-01T06:04:30Z</dcterms:modified>
  <cp:revision>1</cp:revision>
  <dc:title>NPS LAB- EL</dc:title>
</cp:coreProperties>
</file>